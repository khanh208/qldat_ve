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8288000" cy="10287000"/>
  <p:notesSz cx="6858000" cy="9144000"/>
  <p:embeddedFontLst>
    <p:embeddedFont>
      <p:font typeface="Noto Sans Bold" panose="020B0604020202020204" charset="0"/>
      <p:regular r:id="rId13"/>
    </p:embeddedFont>
    <p:embeddedFont>
      <p:font typeface="Raleway" pitchFamily="2" charset="0"/>
      <p:regular r:id="rId14"/>
    </p:embeddedFont>
    <p:embeddedFont>
      <p:font typeface="Raleway Bold" charset="0"/>
      <p:regular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2" d="100"/>
          <a:sy n="52" d="100"/>
        </p:scale>
        <p:origin x="850"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jpeg"/><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2.jpeg"/><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2.jpeg"/><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grpSp>
        <p:nvGrpSpPr>
          <p:cNvPr id="2" name="Group 2"/>
          <p:cNvGrpSpPr/>
          <p:nvPr/>
        </p:nvGrpSpPr>
        <p:grpSpPr>
          <a:xfrm>
            <a:off x="8655111" y="1028700"/>
            <a:ext cx="8966139" cy="4403556"/>
            <a:chOff x="0" y="0"/>
            <a:chExt cx="11954851" cy="5871409"/>
          </a:xfrm>
        </p:grpSpPr>
        <p:sp>
          <p:nvSpPr>
            <p:cNvPr id="3" name="TextBox 3"/>
            <p:cNvSpPr txBox="1"/>
            <p:nvPr/>
          </p:nvSpPr>
          <p:spPr>
            <a:xfrm>
              <a:off x="0" y="219075"/>
              <a:ext cx="11954851" cy="4111864"/>
            </a:xfrm>
            <a:prstGeom prst="rect">
              <a:avLst/>
            </a:prstGeom>
          </p:spPr>
          <p:txBody>
            <a:bodyPr lIns="0" tIns="0" rIns="0" bIns="0" rtlCol="0" anchor="t">
              <a:spAutoFit/>
            </a:bodyPr>
            <a:lstStyle/>
            <a:p>
              <a:pPr marL="0" lvl="0" indent="0" algn="ctr">
                <a:lnSpc>
                  <a:spcPts val="11632"/>
                </a:lnSpc>
              </a:pPr>
              <a:r>
                <a:rPr lang="en-US" sz="11632" b="1">
                  <a:solidFill>
                    <a:srgbClr val="4D8AF0"/>
                  </a:solidFill>
                  <a:latin typeface="Raleway Bold"/>
                  <a:ea typeface="Raleway Bold"/>
                  <a:cs typeface="Raleway Bold"/>
                  <a:sym typeface="Raleway Bold"/>
                </a:rPr>
                <a:t>KIỂM THỬ PHẦN MỀM</a:t>
              </a:r>
            </a:p>
          </p:txBody>
        </p:sp>
        <p:sp>
          <p:nvSpPr>
            <p:cNvPr id="4" name="TextBox 4"/>
            <p:cNvSpPr txBox="1"/>
            <p:nvPr/>
          </p:nvSpPr>
          <p:spPr>
            <a:xfrm>
              <a:off x="0" y="4380635"/>
              <a:ext cx="11954851" cy="1490773"/>
            </a:xfrm>
            <a:prstGeom prst="rect">
              <a:avLst/>
            </a:prstGeom>
          </p:spPr>
          <p:txBody>
            <a:bodyPr lIns="0" tIns="0" rIns="0" bIns="0" rtlCol="0" anchor="t">
              <a:spAutoFit/>
            </a:bodyPr>
            <a:lstStyle/>
            <a:p>
              <a:pPr marL="0" lvl="0" indent="0" algn="ctr">
                <a:lnSpc>
                  <a:spcPts val="4523"/>
                </a:lnSpc>
              </a:pPr>
              <a:r>
                <a:rPr lang="en-US" sz="3231">
                  <a:solidFill>
                    <a:srgbClr val="8AB8FF"/>
                  </a:solidFill>
                  <a:latin typeface="Raleway"/>
                  <a:ea typeface="Raleway"/>
                  <a:cs typeface="Raleway"/>
                  <a:sym typeface="Raleway"/>
                </a:rPr>
                <a:t>Đặt tả hệ thống đặt vé: chứng minh “không bán quá số ghế” (safety) + không kẹt (liveness)</a:t>
              </a:r>
            </a:p>
          </p:txBody>
        </p:sp>
      </p:grpSp>
      <p:grpSp>
        <p:nvGrpSpPr>
          <p:cNvPr id="5" name="Group 5"/>
          <p:cNvGrpSpPr/>
          <p:nvPr/>
        </p:nvGrpSpPr>
        <p:grpSpPr>
          <a:xfrm>
            <a:off x="666750" y="666750"/>
            <a:ext cx="7191375" cy="8953500"/>
            <a:chOff x="0" y="0"/>
            <a:chExt cx="1036915" cy="1290994"/>
          </a:xfrm>
        </p:grpSpPr>
        <p:sp>
          <p:nvSpPr>
            <p:cNvPr id="6" name="Freeform 6"/>
            <p:cNvSpPr/>
            <p:nvPr/>
          </p:nvSpPr>
          <p:spPr>
            <a:xfrm>
              <a:off x="0" y="0"/>
              <a:ext cx="1036915" cy="1290994"/>
            </a:xfrm>
            <a:custGeom>
              <a:avLst/>
              <a:gdLst/>
              <a:ahLst/>
              <a:cxnLst/>
              <a:rect l="l" t="t" r="r" b="b"/>
              <a:pathLst>
                <a:path w="1036915" h="1290994">
                  <a:moveTo>
                    <a:pt x="0" y="0"/>
                  </a:moveTo>
                  <a:lnTo>
                    <a:pt x="1036915" y="0"/>
                  </a:lnTo>
                  <a:lnTo>
                    <a:pt x="1036915" y="1290994"/>
                  </a:lnTo>
                  <a:lnTo>
                    <a:pt x="0" y="1290994"/>
                  </a:lnTo>
                  <a:close/>
                </a:path>
              </a:pathLst>
            </a:custGeom>
            <a:blipFill>
              <a:blip r:embed="rId2"/>
              <a:stretch>
                <a:fillRect t="-199" b="-199"/>
              </a:stretch>
            </a:blipFill>
            <a:ln w="19050" cap="sq">
              <a:solidFill>
                <a:srgbClr val="FFFFFF"/>
              </a:solidFill>
              <a:prstDash val="solid"/>
              <a:miter/>
            </a:ln>
          </p:spPr>
          <p:txBody>
            <a:bodyPr/>
            <a:lstStyle/>
            <a:p>
              <a:endParaRPr lang="en-US"/>
            </a:p>
          </p:txBody>
        </p:sp>
      </p:grpSp>
      <p:sp>
        <p:nvSpPr>
          <p:cNvPr id="7" name="TextBox 7"/>
          <p:cNvSpPr txBox="1"/>
          <p:nvPr/>
        </p:nvSpPr>
        <p:spPr>
          <a:xfrm>
            <a:off x="8655111" y="6458356"/>
            <a:ext cx="8966139" cy="1137130"/>
          </a:xfrm>
          <a:prstGeom prst="rect">
            <a:avLst/>
          </a:prstGeom>
        </p:spPr>
        <p:txBody>
          <a:bodyPr lIns="0" tIns="0" rIns="0" bIns="0" rtlCol="0" anchor="t">
            <a:spAutoFit/>
          </a:bodyPr>
          <a:lstStyle/>
          <a:p>
            <a:pPr algn="l">
              <a:lnSpc>
                <a:spcPts val="4523"/>
              </a:lnSpc>
            </a:pPr>
            <a:r>
              <a:rPr lang="en-US" sz="3231">
                <a:solidFill>
                  <a:srgbClr val="8AB8FF"/>
                </a:solidFill>
                <a:latin typeface="Raleway"/>
                <a:ea typeface="Raleway"/>
                <a:cs typeface="Raleway"/>
                <a:sym typeface="Raleway"/>
              </a:rPr>
              <a:t>Tên: Nguyễn Quốc Khánh</a:t>
            </a:r>
          </a:p>
          <a:p>
            <a:pPr marL="0" lvl="0" indent="0" algn="l">
              <a:lnSpc>
                <a:spcPts val="4523"/>
              </a:lnSpc>
            </a:pPr>
            <a:r>
              <a:rPr lang="en-US" sz="3231">
                <a:solidFill>
                  <a:srgbClr val="8AB8FF"/>
                </a:solidFill>
                <a:latin typeface="Raleway"/>
                <a:ea typeface="Raleway"/>
                <a:cs typeface="Raleway"/>
                <a:sym typeface="Raleway"/>
              </a:rPr>
              <a:t>MSSV: 115080057</a:t>
            </a:r>
          </a:p>
        </p:txBody>
      </p:sp>
      <p:sp>
        <p:nvSpPr>
          <p:cNvPr id="8" name="TextBox 8"/>
          <p:cNvSpPr txBox="1"/>
          <p:nvPr/>
        </p:nvSpPr>
        <p:spPr>
          <a:xfrm>
            <a:off x="9144000" y="9299335"/>
            <a:ext cx="8966139" cy="516100"/>
          </a:xfrm>
          <a:prstGeom prst="rect">
            <a:avLst/>
          </a:prstGeom>
        </p:spPr>
        <p:txBody>
          <a:bodyPr lIns="0" tIns="0" rIns="0" bIns="0" rtlCol="0" anchor="t">
            <a:spAutoFit/>
          </a:bodyPr>
          <a:lstStyle/>
          <a:p>
            <a:pPr marL="0" lvl="0" indent="0" algn="r">
              <a:lnSpc>
                <a:spcPts val="4103"/>
              </a:lnSpc>
            </a:pPr>
            <a:r>
              <a:rPr lang="en-US" sz="2931">
                <a:solidFill>
                  <a:srgbClr val="8AB8FF"/>
                </a:solidFill>
                <a:latin typeface="Raleway"/>
                <a:ea typeface="Raleway"/>
                <a:cs typeface="Raleway"/>
                <a:sym typeface="Raleway"/>
              </a:rPr>
              <a:t>GVHD: ThS. Phạm Trọng Huynh</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grpSp>
        <p:nvGrpSpPr>
          <p:cNvPr id="2" name="Group 2"/>
          <p:cNvGrpSpPr/>
          <p:nvPr/>
        </p:nvGrpSpPr>
        <p:grpSpPr>
          <a:xfrm>
            <a:off x="6048163" y="394942"/>
            <a:ext cx="6191675" cy="1626744"/>
            <a:chOff x="0" y="0"/>
            <a:chExt cx="8255566" cy="2168992"/>
          </a:xfrm>
        </p:grpSpPr>
        <p:sp>
          <p:nvSpPr>
            <p:cNvPr id="3" name="TextBox 3"/>
            <p:cNvSpPr txBox="1"/>
            <p:nvPr/>
          </p:nvSpPr>
          <p:spPr>
            <a:xfrm>
              <a:off x="0" y="142875"/>
              <a:ext cx="8255566" cy="1488535"/>
            </a:xfrm>
            <a:prstGeom prst="rect">
              <a:avLst/>
            </a:prstGeom>
          </p:spPr>
          <p:txBody>
            <a:bodyPr lIns="0" tIns="0" rIns="0" bIns="0" rtlCol="0" anchor="t">
              <a:spAutoFit/>
            </a:bodyPr>
            <a:lstStyle/>
            <a:p>
              <a:pPr marL="0" lvl="0" indent="0" algn="ctr">
                <a:lnSpc>
                  <a:spcPts val="8032"/>
                </a:lnSpc>
              </a:pPr>
              <a:r>
                <a:rPr lang="en-US" sz="8032" b="1">
                  <a:solidFill>
                    <a:srgbClr val="4D8AF0"/>
                  </a:solidFill>
                  <a:latin typeface="Raleway Bold"/>
                  <a:ea typeface="Raleway Bold"/>
                  <a:cs typeface="Raleway Bold"/>
                  <a:sym typeface="Raleway Bold"/>
                </a:rPr>
                <a:t>MỤC LỤC</a:t>
              </a:r>
            </a:p>
          </p:txBody>
        </p:sp>
        <p:sp>
          <p:nvSpPr>
            <p:cNvPr id="4" name="TextBox 4"/>
            <p:cNvSpPr txBox="1"/>
            <p:nvPr/>
          </p:nvSpPr>
          <p:spPr>
            <a:xfrm>
              <a:off x="0" y="1661200"/>
              <a:ext cx="8255566" cy="507792"/>
            </a:xfrm>
            <a:prstGeom prst="rect">
              <a:avLst/>
            </a:prstGeom>
          </p:spPr>
          <p:txBody>
            <a:bodyPr lIns="0" tIns="0" rIns="0" bIns="0" rtlCol="0" anchor="t">
              <a:spAutoFit/>
            </a:bodyPr>
            <a:lstStyle/>
            <a:p>
              <a:pPr marL="0" lvl="0" indent="0" algn="ctr">
                <a:lnSpc>
                  <a:spcPts val="3123"/>
                </a:lnSpc>
              </a:pPr>
              <a:endParaRPr/>
            </a:p>
          </p:txBody>
        </p:sp>
      </p:grpSp>
      <p:sp>
        <p:nvSpPr>
          <p:cNvPr id="5" name="TextBox 5"/>
          <p:cNvSpPr txBox="1"/>
          <p:nvPr/>
        </p:nvSpPr>
        <p:spPr>
          <a:xfrm>
            <a:off x="1849804" y="2353441"/>
            <a:ext cx="10668000" cy="771525"/>
          </a:xfrm>
          <a:prstGeom prst="rect">
            <a:avLst/>
          </a:prstGeom>
        </p:spPr>
        <p:txBody>
          <a:bodyPr lIns="0" tIns="0" rIns="0" bIns="0" rtlCol="0" anchor="t">
            <a:spAutoFit/>
          </a:bodyPr>
          <a:lstStyle/>
          <a:p>
            <a:pPr algn="l">
              <a:lnSpc>
                <a:spcPts val="6300"/>
              </a:lnSpc>
            </a:pPr>
            <a:r>
              <a:rPr lang="en-US" sz="4500" b="1">
                <a:solidFill>
                  <a:srgbClr val="FFFFFF"/>
                </a:solidFill>
                <a:latin typeface="Noto Sans Bold"/>
                <a:ea typeface="Noto Sans Bold"/>
                <a:cs typeface="Noto Sans Bold"/>
                <a:sym typeface="Noto Sans Bold"/>
              </a:rPr>
              <a:t>I. GIỚI THIỆU ĐỀ TÀI</a:t>
            </a:r>
          </a:p>
        </p:txBody>
      </p:sp>
      <p:sp>
        <p:nvSpPr>
          <p:cNvPr id="6" name="TextBox 6"/>
          <p:cNvSpPr txBox="1"/>
          <p:nvPr/>
        </p:nvSpPr>
        <p:spPr>
          <a:xfrm>
            <a:off x="1849804" y="3592251"/>
            <a:ext cx="10952727" cy="771525"/>
          </a:xfrm>
          <a:prstGeom prst="rect">
            <a:avLst/>
          </a:prstGeom>
        </p:spPr>
        <p:txBody>
          <a:bodyPr lIns="0" tIns="0" rIns="0" bIns="0" rtlCol="0" anchor="t">
            <a:spAutoFit/>
          </a:bodyPr>
          <a:lstStyle/>
          <a:p>
            <a:pPr algn="l">
              <a:lnSpc>
                <a:spcPts val="6300"/>
              </a:lnSpc>
            </a:pPr>
            <a:r>
              <a:rPr lang="en-US" sz="4500" b="1">
                <a:solidFill>
                  <a:srgbClr val="FFFFFF"/>
                </a:solidFill>
                <a:latin typeface="Noto Sans Bold"/>
                <a:ea typeface="Noto Sans Bold"/>
                <a:cs typeface="Noto Sans Bold"/>
                <a:sym typeface="Noto Sans Bold"/>
              </a:rPr>
              <a:t>II. TỔNG QUAN HỆ THỐNG</a:t>
            </a:r>
          </a:p>
        </p:txBody>
      </p:sp>
      <p:sp>
        <p:nvSpPr>
          <p:cNvPr id="7" name="TextBox 7"/>
          <p:cNvSpPr txBox="1"/>
          <p:nvPr/>
        </p:nvSpPr>
        <p:spPr>
          <a:xfrm>
            <a:off x="1895608" y="4831061"/>
            <a:ext cx="5811560" cy="771525"/>
          </a:xfrm>
          <a:prstGeom prst="rect">
            <a:avLst/>
          </a:prstGeom>
        </p:spPr>
        <p:txBody>
          <a:bodyPr lIns="0" tIns="0" rIns="0" bIns="0" rtlCol="0" anchor="t">
            <a:spAutoFit/>
          </a:bodyPr>
          <a:lstStyle/>
          <a:p>
            <a:pPr algn="l">
              <a:lnSpc>
                <a:spcPts val="6300"/>
              </a:lnSpc>
            </a:pPr>
            <a:r>
              <a:rPr lang="en-US" sz="4500" b="1" dirty="0">
                <a:solidFill>
                  <a:srgbClr val="FFFFFF"/>
                </a:solidFill>
                <a:latin typeface="Noto Sans Bold"/>
                <a:ea typeface="Noto Sans Bold"/>
                <a:cs typeface="Noto Sans Bold"/>
                <a:sym typeface="Noto Sans Bold"/>
              </a:rPr>
              <a:t>III. </a:t>
            </a:r>
            <a:r>
              <a:rPr lang="en-US" sz="4500" b="1">
                <a:solidFill>
                  <a:srgbClr val="FFFFFF"/>
                </a:solidFill>
                <a:latin typeface="Noto Sans Bold"/>
                <a:ea typeface="Noto Sans Bold"/>
                <a:cs typeface="Noto Sans Bold"/>
                <a:sym typeface="Noto Sans Bold"/>
              </a:rPr>
              <a:t>TEST CASE</a:t>
            </a:r>
          </a:p>
        </p:txBody>
      </p:sp>
      <p:sp>
        <p:nvSpPr>
          <p:cNvPr id="8" name="TextBox 8"/>
          <p:cNvSpPr txBox="1"/>
          <p:nvPr/>
        </p:nvSpPr>
        <p:spPr>
          <a:xfrm>
            <a:off x="1849804" y="6069310"/>
            <a:ext cx="2776657" cy="771525"/>
          </a:xfrm>
          <a:prstGeom prst="rect">
            <a:avLst/>
          </a:prstGeom>
        </p:spPr>
        <p:txBody>
          <a:bodyPr lIns="0" tIns="0" rIns="0" bIns="0" rtlCol="0" anchor="t">
            <a:spAutoFit/>
          </a:bodyPr>
          <a:lstStyle/>
          <a:p>
            <a:pPr algn="ctr">
              <a:lnSpc>
                <a:spcPts val="6300"/>
              </a:lnSpc>
            </a:pPr>
            <a:r>
              <a:rPr lang="en-US" sz="4500" b="1">
                <a:solidFill>
                  <a:srgbClr val="FFFFFF"/>
                </a:solidFill>
                <a:latin typeface="Noto Sans Bold"/>
                <a:ea typeface="Noto Sans Bold"/>
                <a:cs typeface="Noto Sans Bold"/>
                <a:sym typeface="Noto Sans Bold"/>
              </a:rPr>
              <a:t>IV. DEMO </a:t>
            </a:r>
          </a:p>
        </p:txBody>
      </p:sp>
      <p:sp>
        <p:nvSpPr>
          <p:cNvPr id="9" name="TextBox 9"/>
          <p:cNvSpPr txBox="1"/>
          <p:nvPr/>
        </p:nvSpPr>
        <p:spPr>
          <a:xfrm>
            <a:off x="1676400" y="7307560"/>
            <a:ext cx="4114800" cy="771525"/>
          </a:xfrm>
          <a:prstGeom prst="rect">
            <a:avLst/>
          </a:prstGeom>
        </p:spPr>
        <p:txBody>
          <a:bodyPr wrap="square" lIns="0" tIns="0" rIns="0" bIns="0" rtlCol="0" anchor="t">
            <a:spAutoFit/>
          </a:bodyPr>
          <a:lstStyle/>
          <a:p>
            <a:pPr algn="ctr">
              <a:lnSpc>
                <a:spcPts val="6300"/>
              </a:lnSpc>
            </a:pPr>
            <a:r>
              <a:rPr lang="en-US" sz="4500" b="1" dirty="0">
                <a:solidFill>
                  <a:srgbClr val="FFFFFF"/>
                </a:solidFill>
                <a:latin typeface="Noto Sans Bold"/>
                <a:ea typeface="Noto Sans Bold"/>
                <a:cs typeface="Noto Sans Bold"/>
                <a:sym typeface="Noto Sans Bold"/>
              </a:rPr>
              <a:t>V. KẾT LUẬN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A2A2A"/>
        </a:solidFill>
        <a:effectLst/>
      </p:bgPr>
    </p:bg>
    <p:spTree>
      <p:nvGrpSpPr>
        <p:cNvPr id="1" name=""/>
        <p:cNvGrpSpPr/>
        <p:nvPr/>
      </p:nvGrpSpPr>
      <p:grpSpPr>
        <a:xfrm>
          <a:off x="0" y="0"/>
          <a:ext cx="0" cy="0"/>
          <a:chOff x="0" y="0"/>
          <a:chExt cx="0" cy="0"/>
        </a:xfrm>
      </p:grpSpPr>
      <p:sp>
        <p:nvSpPr>
          <p:cNvPr id="2" name="AutoShape 2"/>
          <p:cNvSpPr/>
          <p:nvPr/>
        </p:nvSpPr>
        <p:spPr>
          <a:xfrm>
            <a:off x="1431704" y="9610725"/>
            <a:ext cx="15624461" cy="0"/>
          </a:xfrm>
          <a:prstGeom prst="line">
            <a:avLst/>
          </a:prstGeom>
          <a:ln w="19050" cap="flat">
            <a:solidFill>
              <a:srgbClr val="8AB8FF"/>
            </a:solidFill>
            <a:prstDash val="solid"/>
            <a:headEnd type="none" w="sm" len="sm"/>
            <a:tailEnd type="none" w="sm" len="sm"/>
          </a:ln>
        </p:spPr>
        <p:txBody>
          <a:bodyPr/>
          <a:lstStyle/>
          <a:p>
            <a:endParaRPr lang="en-US"/>
          </a:p>
        </p:txBody>
      </p:sp>
      <p:sp>
        <p:nvSpPr>
          <p:cNvPr id="3" name="Freeform 3"/>
          <p:cNvSpPr/>
          <p:nvPr/>
        </p:nvSpPr>
        <p:spPr>
          <a:xfrm>
            <a:off x="671512" y="9387884"/>
            <a:ext cx="445682" cy="445682"/>
          </a:xfrm>
          <a:custGeom>
            <a:avLst/>
            <a:gdLst/>
            <a:ahLst/>
            <a:cxnLst/>
            <a:rect l="l" t="t" r="r" b="b"/>
            <a:pathLst>
              <a:path w="445682" h="445682">
                <a:moveTo>
                  <a:pt x="0" y="0"/>
                </a:moveTo>
                <a:lnTo>
                  <a:pt x="445683" y="0"/>
                </a:lnTo>
                <a:lnTo>
                  <a:pt x="445683" y="445682"/>
                </a:lnTo>
                <a:lnTo>
                  <a:pt x="0" y="44568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4" name="Group 4"/>
          <p:cNvGrpSpPr/>
          <p:nvPr/>
        </p:nvGrpSpPr>
        <p:grpSpPr>
          <a:xfrm>
            <a:off x="666750" y="666750"/>
            <a:ext cx="13434895" cy="5117407"/>
            <a:chOff x="0" y="0"/>
            <a:chExt cx="17913193" cy="6823209"/>
          </a:xfrm>
        </p:grpSpPr>
        <p:sp>
          <p:nvSpPr>
            <p:cNvPr id="5" name="TextBox 5"/>
            <p:cNvSpPr txBox="1"/>
            <p:nvPr/>
          </p:nvSpPr>
          <p:spPr>
            <a:xfrm>
              <a:off x="0" y="76200"/>
              <a:ext cx="17611255" cy="1752600"/>
            </a:xfrm>
            <a:prstGeom prst="rect">
              <a:avLst/>
            </a:prstGeom>
          </p:spPr>
          <p:txBody>
            <a:bodyPr lIns="0" tIns="0" rIns="0" bIns="0" rtlCol="0" anchor="t">
              <a:spAutoFit/>
            </a:bodyPr>
            <a:lstStyle/>
            <a:p>
              <a:pPr marL="0" lvl="0" indent="0" algn="l">
                <a:lnSpc>
                  <a:spcPts val="9900"/>
                </a:lnSpc>
              </a:pPr>
              <a:r>
                <a:rPr lang="en-US" sz="9000" b="1">
                  <a:solidFill>
                    <a:srgbClr val="8AB8FF"/>
                  </a:solidFill>
                  <a:latin typeface="Raleway Bold"/>
                  <a:ea typeface="Raleway Bold"/>
                  <a:cs typeface="Raleway Bold"/>
                  <a:sym typeface="Raleway Bold"/>
                </a:rPr>
                <a:t>Giới thiệu đề tài</a:t>
              </a:r>
            </a:p>
          </p:txBody>
        </p:sp>
        <p:sp>
          <p:nvSpPr>
            <p:cNvPr id="6" name="TextBox 6"/>
            <p:cNvSpPr txBox="1"/>
            <p:nvPr/>
          </p:nvSpPr>
          <p:spPr>
            <a:xfrm>
              <a:off x="0" y="2320925"/>
              <a:ext cx="17611255" cy="676275"/>
            </a:xfrm>
            <a:prstGeom prst="rect">
              <a:avLst/>
            </a:prstGeom>
          </p:spPr>
          <p:txBody>
            <a:bodyPr lIns="0" tIns="0" rIns="0" bIns="0" rtlCol="0" anchor="t">
              <a:spAutoFit/>
            </a:bodyPr>
            <a:lstStyle/>
            <a:p>
              <a:pPr marL="0" lvl="0" indent="0" algn="l">
                <a:lnSpc>
                  <a:spcPts val="4200"/>
                </a:lnSpc>
              </a:pPr>
              <a:r>
                <a:rPr lang="en-US" sz="3000">
                  <a:solidFill>
                    <a:srgbClr val="8AB8FF"/>
                  </a:solidFill>
                  <a:latin typeface="Raleway"/>
                  <a:ea typeface="Raleway"/>
                  <a:cs typeface="Raleway"/>
                  <a:sym typeface="Raleway"/>
                </a:rPr>
                <a:t>Đối tượng kiểm thử:</a:t>
              </a:r>
            </a:p>
          </p:txBody>
        </p:sp>
        <p:sp>
          <p:nvSpPr>
            <p:cNvPr id="7" name="TextBox 7"/>
            <p:cNvSpPr txBox="1"/>
            <p:nvPr/>
          </p:nvSpPr>
          <p:spPr>
            <a:xfrm>
              <a:off x="301938" y="3239999"/>
              <a:ext cx="17611255" cy="1439122"/>
            </a:xfrm>
            <a:prstGeom prst="rect">
              <a:avLst/>
            </a:prstGeom>
          </p:spPr>
          <p:txBody>
            <a:bodyPr lIns="0" tIns="0" rIns="0" bIns="0" rtlCol="0" anchor="t">
              <a:spAutoFit/>
            </a:bodyPr>
            <a:lstStyle/>
            <a:p>
              <a:pPr marL="474981" lvl="1" indent="-237491" algn="l">
                <a:lnSpc>
                  <a:spcPts val="2860"/>
                </a:lnSpc>
                <a:buFont typeface="Arial"/>
                <a:buChar char="•"/>
              </a:pPr>
              <a:r>
                <a:rPr lang="en-US" sz="2200">
                  <a:solidFill>
                    <a:srgbClr val="D9D9D9"/>
                  </a:solidFill>
                  <a:latin typeface="Raleway"/>
                  <a:ea typeface="Raleway"/>
                  <a:cs typeface="Raleway"/>
                  <a:sym typeface="Raleway"/>
                </a:rPr>
                <a:t>Tập trung vào Backend Service: BookingService.</a:t>
              </a:r>
            </a:p>
            <a:p>
              <a:pPr marL="474981" lvl="1" indent="-237491" algn="l">
                <a:lnSpc>
                  <a:spcPts val="2860"/>
                </a:lnSpc>
                <a:buFont typeface="Arial"/>
                <a:buChar char="•"/>
              </a:pPr>
              <a:r>
                <a:rPr lang="en-US" sz="2200">
                  <a:solidFill>
                    <a:srgbClr val="D9D9D9"/>
                  </a:solidFill>
                  <a:latin typeface="Raleway"/>
                  <a:ea typeface="Raleway"/>
                  <a:cs typeface="Raleway"/>
                  <a:sym typeface="Raleway"/>
                </a:rPr>
                <a:t>Các chức năng: Đặt vé, Kiểm tra ghế trống, Thanh toán.</a:t>
              </a:r>
            </a:p>
            <a:p>
              <a:pPr marL="0" lvl="0" indent="0" algn="l">
                <a:lnSpc>
                  <a:spcPts val="2860"/>
                </a:lnSpc>
              </a:pPr>
              <a:endParaRPr lang="en-US" sz="2200">
                <a:solidFill>
                  <a:srgbClr val="D9D9D9"/>
                </a:solidFill>
                <a:latin typeface="Raleway"/>
                <a:ea typeface="Raleway"/>
                <a:cs typeface="Raleway"/>
                <a:sym typeface="Raleway"/>
              </a:endParaRPr>
            </a:p>
          </p:txBody>
        </p:sp>
        <p:sp>
          <p:nvSpPr>
            <p:cNvPr id="8" name="TextBox 8"/>
            <p:cNvSpPr txBox="1"/>
            <p:nvPr/>
          </p:nvSpPr>
          <p:spPr>
            <a:xfrm>
              <a:off x="0" y="4612446"/>
              <a:ext cx="17611255" cy="676275"/>
            </a:xfrm>
            <a:prstGeom prst="rect">
              <a:avLst/>
            </a:prstGeom>
          </p:spPr>
          <p:txBody>
            <a:bodyPr lIns="0" tIns="0" rIns="0" bIns="0" rtlCol="0" anchor="t">
              <a:spAutoFit/>
            </a:bodyPr>
            <a:lstStyle/>
            <a:p>
              <a:pPr marL="0" lvl="0" indent="0" algn="l">
                <a:lnSpc>
                  <a:spcPts val="4200"/>
                </a:lnSpc>
              </a:pPr>
              <a:r>
                <a:rPr lang="en-US" sz="3000">
                  <a:solidFill>
                    <a:srgbClr val="8AB8FF"/>
                  </a:solidFill>
                  <a:latin typeface="Raleway"/>
                  <a:ea typeface="Raleway"/>
                  <a:cs typeface="Raleway"/>
                  <a:sym typeface="Raleway"/>
                </a:rPr>
                <a:t>Mục tiêu kiểm thử:</a:t>
              </a:r>
            </a:p>
          </p:txBody>
        </p:sp>
        <p:sp>
          <p:nvSpPr>
            <p:cNvPr id="9" name="TextBox 9"/>
            <p:cNvSpPr txBox="1"/>
            <p:nvPr/>
          </p:nvSpPr>
          <p:spPr>
            <a:xfrm>
              <a:off x="301938" y="4955346"/>
              <a:ext cx="17110226" cy="1867863"/>
            </a:xfrm>
            <a:prstGeom prst="rect">
              <a:avLst/>
            </a:prstGeom>
          </p:spPr>
          <p:txBody>
            <a:bodyPr lIns="0" tIns="0" rIns="0" bIns="0" rtlCol="0" anchor="t">
              <a:spAutoFit/>
            </a:bodyPr>
            <a:lstStyle/>
            <a:p>
              <a:pPr algn="l">
                <a:lnSpc>
                  <a:spcPts val="2778"/>
                </a:lnSpc>
              </a:pPr>
              <a:endParaRPr/>
            </a:p>
            <a:p>
              <a:pPr marL="461468" lvl="1" indent="-230734" algn="l">
                <a:lnSpc>
                  <a:spcPts val="2778"/>
                </a:lnSpc>
                <a:buFont typeface="Arial"/>
                <a:buChar char="•"/>
              </a:pPr>
              <a:r>
                <a:rPr lang="en-US" sz="2137">
                  <a:solidFill>
                    <a:srgbClr val="D9D9D9"/>
                  </a:solidFill>
                  <a:latin typeface="Raleway"/>
                  <a:ea typeface="Raleway"/>
                  <a:cs typeface="Raleway"/>
                  <a:sym typeface="Raleway"/>
                </a:rPr>
                <a:t>Đảm bảo logic nghiệp vụ chạy đúng (Functional).</a:t>
              </a:r>
            </a:p>
            <a:p>
              <a:pPr marL="461468" lvl="1" indent="-230734" algn="l">
                <a:lnSpc>
                  <a:spcPts val="2778"/>
                </a:lnSpc>
                <a:buFont typeface="Arial"/>
                <a:buChar char="•"/>
              </a:pPr>
              <a:r>
                <a:rPr lang="en-US" sz="2137">
                  <a:solidFill>
                    <a:srgbClr val="D9D9D9"/>
                  </a:solidFill>
                  <a:latin typeface="Raleway"/>
                  <a:ea typeface="Raleway"/>
                  <a:cs typeface="Raleway"/>
                  <a:sym typeface="Raleway"/>
                </a:rPr>
                <a:t>Quan trọng: Phát hiện lỗi tranh chấp tài nguyên (Race Condition) khi có nhiều người đặt cùng lúc.</a:t>
              </a:r>
            </a:p>
            <a:p>
              <a:pPr marL="0" lvl="0" indent="0" algn="l">
                <a:lnSpc>
                  <a:spcPts val="2778"/>
                </a:lnSpc>
              </a:pPr>
              <a:endParaRPr lang="en-US" sz="2137">
                <a:solidFill>
                  <a:srgbClr val="D9D9D9"/>
                </a:solidFill>
                <a:latin typeface="Raleway"/>
                <a:ea typeface="Raleway"/>
                <a:cs typeface="Raleway"/>
                <a:sym typeface="Raleway"/>
              </a:endParaRPr>
            </a:p>
          </p:txBody>
        </p:sp>
      </p:grpSp>
      <p:sp>
        <p:nvSpPr>
          <p:cNvPr id="10" name="TextBox 10"/>
          <p:cNvSpPr txBox="1"/>
          <p:nvPr/>
        </p:nvSpPr>
        <p:spPr>
          <a:xfrm>
            <a:off x="17485343" y="9412274"/>
            <a:ext cx="152400" cy="209550"/>
          </a:xfrm>
          <a:prstGeom prst="rect">
            <a:avLst/>
          </a:prstGeom>
        </p:spPr>
        <p:txBody>
          <a:bodyPr wrap="none" lIns="0" tIns="0" rIns="0" bIns="0" rtlCol="0" anchor="t">
            <a:spAutoFit/>
          </a:bodyPr>
          <a:lstStyle/>
          <a:p>
            <a:pPr algn="r">
              <a:lnSpc>
                <a:spcPts val="2800"/>
              </a:lnSpc>
              <a:spcBef>
                <a:spcPct val="0"/>
              </a:spcBef>
            </a:pPr>
            <a:r>
              <a:rPr lang="en-US" sz="2000">
                <a:solidFill>
                  <a:srgbClr val="D9D9D9"/>
                </a:solidFill>
                <a:latin typeface="Raleway"/>
                <a:ea typeface="Raleway"/>
                <a:cs typeface="Raleway"/>
                <a:sym typeface="Raleway"/>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AutoShape 2"/>
          <p:cNvSpPr/>
          <p:nvPr/>
        </p:nvSpPr>
        <p:spPr>
          <a:xfrm>
            <a:off x="1431704" y="9610725"/>
            <a:ext cx="15624461" cy="0"/>
          </a:xfrm>
          <a:prstGeom prst="line">
            <a:avLst/>
          </a:prstGeom>
          <a:ln w="19050" cap="flat">
            <a:solidFill>
              <a:srgbClr val="8AB8FF"/>
            </a:solidFill>
            <a:prstDash val="solid"/>
            <a:headEnd type="none" w="sm" len="sm"/>
            <a:tailEnd type="none" w="sm" len="sm"/>
          </a:ln>
        </p:spPr>
        <p:txBody>
          <a:bodyPr/>
          <a:lstStyle/>
          <a:p>
            <a:endParaRPr lang="en-US"/>
          </a:p>
        </p:txBody>
      </p:sp>
      <p:sp>
        <p:nvSpPr>
          <p:cNvPr id="3" name="Freeform 3"/>
          <p:cNvSpPr/>
          <p:nvPr/>
        </p:nvSpPr>
        <p:spPr>
          <a:xfrm>
            <a:off x="671512" y="9387884"/>
            <a:ext cx="445682" cy="445682"/>
          </a:xfrm>
          <a:custGeom>
            <a:avLst/>
            <a:gdLst/>
            <a:ahLst/>
            <a:cxnLst/>
            <a:rect l="l" t="t" r="r" b="b"/>
            <a:pathLst>
              <a:path w="445682" h="445682">
                <a:moveTo>
                  <a:pt x="0" y="0"/>
                </a:moveTo>
                <a:lnTo>
                  <a:pt x="445683" y="0"/>
                </a:lnTo>
                <a:lnTo>
                  <a:pt x="445683" y="445682"/>
                </a:lnTo>
                <a:lnTo>
                  <a:pt x="0" y="44568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4" name="Freeform 4"/>
          <p:cNvSpPr/>
          <p:nvPr/>
        </p:nvSpPr>
        <p:spPr>
          <a:xfrm>
            <a:off x="1028700" y="1028700"/>
            <a:ext cx="6285819" cy="2946478"/>
          </a:xfrm>
          <a:custGeom>
            <a:avLst/>
            <a:gdLst/>
            <a:ahLst/>
            <a:cxnLst/>
            <a:rect l="l" t="t" r="r" b="b"/>
            <a:pathLst>
              <a:path w="6285819" h="2946478">
                <a:moveTo>
                  <a:pt x="0" y="0"/>
                </a:moveTo>
                <a:lnTo>
                  <a:pt x="6285819" y="0"/>
                </a:lnTo>
                <a:lnTo>
                  <a:pt x="6285819" y="2946478"/>
                </a:lnTo>
                <a:lnTo>
                  <a:pt x="0" y="2946478"/>
                </a:lnTo>
                <a:lnTo>
                  <a:pt x="0" y="0"/>
                </a:lnTo>
                <a:close/>
              </a:path>
            </a:pathLst>
          </a:custGeom>
          <a:blipFill>
            <a:blip r:embed="rId4"/>
            <a:stretch>
              <a:fillRect/>
            </a:stretch>
          </a:blipFill>
        </p:spPr>
        <p:txBody>
          <a:bodyPr/>
          <a:lstStyle/>
          <a:p>
            <a:endParaRPr lang="en-US"/>
          </a:p>
        </p:txBody>
      </p:sp>
      <p:sp>
        <p:nvSpPr>
          <p:cNvPr id="5" name="Freeform 5"/>
          <p:cNvSpPr/>
          <p:nvPr/>
        </p:nvSpPr>
        <p:spPr>
          <a:xfrm>
            <a:off x="1028700" y="3975178"/>
            <a:ext cx="6285819" cy="3032908"/>
          </a:xfrm>
          <a:custGeom>
            <a:avLst/>
            <a:gdLst/>
            <a:ahLst/>
            <a:cxnLst/>
            <a:rect l="l" t="t" r="r" b="b"/>
            <a:pathLst>
              <a:path w="6285819" h="3032908">
                <a:moveTo>
                  <a:pt x="0" y="0"/>
                </a:moveTo>
                <a:lnTo>
                  <a:pt x="6285819" y="0"/>
                </a:lnTo>
                <a:lnTo>
                  <a:pt x="6285819" y="3032908"/>
                </a:lnTo>
                <a:lnTo>
                  <a:pt x="0" y="3032908"/>
                </a:lnTo>
                <a:lnTo>
                  <a:pt x="0" y="0"/>
                </a:lnTo>
                <a:close/>
              </a:path>
            </a:pathLst>
          </a:custGeom>
          <a:blipFill>
            <a:blip r:embed="rId5"/>
            <a:stretch>
              <a:fillRect/>
            </a:stretch>
          </a:blipFill>
        </p:spPr>
        <p:txBody>
          <a:bodyPr/>
          <a:lstStyle/>
          <a:p>
            <a:endParaRPr lang="en-US"/>
          </a:p>
        </p:txBody>
      </p:sp>
      <p:grpSp>
        <p:nvGrpSpPr>
          <p:cNvPr id="6" name="Group 6"/>
          <p:cNvGrpSpPr/>
          <p:nvPr/>
        </p:nvGrpSpPr>
        <p:grpSpPr>
          <a:xfrm>
            <a:off x="7858125" y="666750"/>
            <a:ext cx="9763125" cy="6443228"/>
            <a:chOff x="0" y="0"/>
            <a:chExt cx="13017500" cy="8590971"/>
          </a:xfrm>
        </p:grpSpPr>
        <p:sp>
          <p:nvSpPr>
            <p:cNvPr id="7" name="TextBox 7"/>
            <p:cNvSpPr txBox="1"/>
            <p:nvPr/>
          </p:nvSpPr>
          <p:spPr>
            <a:xfrm>
              <a:off x="0" y="76200"/>
              <a:ext cx="13017500" cy="3429000"/>
            </a:xfrm>
            <a:prstGeom prst="rect">
              <a:avLst/>
            </a:prstGeom>
          </p:spPr>
          <p:txBody>
            <a:bodyPr lIns="0" tIns="0" rIns="0" bIns="0" rtlCol="0" anchor="t">
              <a:spAutoFit/>
            </a:bodyPr>
            <a:lstStyle/>
            <a:p>
              <a:pPr marL="0" lvl="0" indent="0" algn="l">
                <a:lnSpc>
                  <a:spcPts val="9900"/>
                </a:lnSpc>
              </a:pPr>
              <a:r>
                <a:rPr lang="en-US" sz="9000">
                  <a:solidFill>
                    <a:srgbClr val="4D8AF0"/>
                  </a:solidFill>
                  <a:latin typeface="Raleway"/>
                  <a:ea typeface="Raleway"/>
                  <a:cs typeface="Raleway"/>
                  <a:sym typeface="Raleway"/>
                </a:rPr>
                <a:t>Tổng quan hệ thống</a:t>
              </a:r>
            </a:p>
          </p:txBody>
        </p:sp>
        <p:sp>
          <p:nvSpPr>
            <p:cNvPr id="8" name="TextBox 8"/>
            <p:cNvSpPr txBox="1"/>
            <p:nvPr/>
          </p:nvSpPr>
          <p:spPr>
            <a:xfrm>
              <a:off x="0" y="3931553"/>
              <a:ext cx="8409725" cy="4659418"/>
            </a:xfrm>
            <a:prstGeom prst="rect">
              <a:avLst/>
            </a:prstGeom>
          </p:spPr>
          <p:txBody>
            <a:bodyPr lIns="0" tIns="0" rIns="0" bIns="0" rtlCol="0" anchor="t">
              <a:spAutoFit/>
            </a:bodyPr>
            <a:lstStyle/>
            <a:p>
              <a:pPr marL="474981" lvl="1" indent="-237491" algn="just">
                <a:lnSpc>
                  <a:spcPts val="3080"/>
                </a:lnSpc>
                <a:buFont typeface="Arial"/>
                <a:buChar char="•"/>
              </a:pPr>
              <a:r>
                <a:rPr lang="en-US" sz="2200">
                  <a:solidFill>
                    <a:srgbClr val="D9D9D9"/>
                  </a:solidFill>
                  <a:latin typeface="Raleway"/>
                  <a:ea typeface="Raleway"/>
                  <a:cs typeface="Raleway"/>
                  <a:sym typeface="Raleway"/>
                </a:rPr>
                <a:t>Website đặt vé xe khách trực tuyến.</a:t>
              </a:r>
            </a:p>
            <a:p>
              <a:pPr algn="just">
                <a:lnSpc>
                  <a:spcPts val="3080"/>
                </a:lnSpc>
              </a:pPr>
              <a:r>
                <a:rPr lang="en-US" sz="2200">
                  <a:solidFill>
                    <a:srgbClr val="D9D9D9"/>
                  </a:solidFill>
                  <a:latin typeface="Raleway"/>
                  <a:ea typeface="Raleway"/>
                  <a:cs typeface="Raleway"/>
                  <a:sym typeface="Raleway"/>
                </a:rPr>
                <a:t>Các chức năng chính:</a:t>
              </a:r>
            </a:p>
            <a:p>
              <a:pPr marL="474981" lvl="1" indent="-237491" algn="just">
                <a:lnSpc>
                  <a:spcPts val="3080"/>
                </a:lnSpc>
                <a:buFont typeface="Arial"/>
                <a:buChar char="•"/>
              </a:pPr>
              <a:r>
                <a:rPr lang="en-US" sz="2200">
                  <a:solidFill>
                    <a:srgbClr val="D9D9D9"/>
                  </a:solidFill>
                  <a:latin typeface="Raleway"/>
                  <a:ea typeface="Raleway"/>
                  <a:cs typeface="Raleway"/>
                  <a:sym typeface="Raleway"/>
                </a:rPr>
                <a:t>Tìm kiếm chuyến xe (theo tuyến, ngày giờ).</a:t>
              </a:r>
            </a:p>
            <a:p>
              <a:pPr marL="474981" lvl="1" indent="-237491" algn="just">
                <a:lnSpc>
                  <a:spcPts val="3080"/>
                </a:lnSpc>
                <a:buFont typeface="Arial"/>
                <a:buChar char="•"/>
              </a:pPr>
              <a:r>
                <a:rPr lang="en-US" sz="2200">
                  <a:solidFill>
                    <a:srgbClr val="D9D9D9"/>
                  </a:solidFill>
                  <a:latin typeface="Raleway"/>
                  <a:ea typeface="Raleway"/>
                  <a:cs typeface="Raleway"/>
                  <a:sym typeface="Raleway"/>
                </a:rPr>
                <a:t>Chọn ghế ngồi.</a:t>
              </a:r>
            </a:p>
            <a:p>
              <a:pPr marL="474981" lvl="1" indent="-237491" algn="just">
                <a:lnSpc>
                  <a:spcPts val="3080"/>
                </a:lnSpc>
                <a:buFont typeface="Arial"/>
                <a:buChar char="•"/>
              </a:pPr>
              <a:r>
                <a:rPr lang="en-US" sz="2200">
                  <a:solidFill>
                    <a:srgbClr val="D9D9D9"/>
                  </a:solidFill>
                  <a:latin typeface="Raleway"/>
                  <a:ea typeface="Raleway"/>
                  <a:cs typeface="Raleway"/>
                  <a:sym typeface="Raleway"/>
                </a:rPr>
                <a:t>Đặt vé &amp; Thanh toán (Tiền mặt / Ví MoMo).</a:t>
              </a:r>
            </a:p>
            <a:p>
              <a:pPr algn="just">
                <a:lnSpc>
                  <a:spcPts val="3080"/>
                </a:lnSpc>
              </a:pPr>
              <a:r>
                <a:rPr lang="en-US" sz="2200">
                  <a:solidFill>
                    <a:srgbClr val="D9D9D9"/>
                  </a:solidFill>
                  <a:latin typeface="Raleway"/>
                  <a:ea typeface="Raleway"/>
                  <a:cs typeface="Raleway"/>
                  <a:sym typeface="Raleway"/>
                </a:rPr>
                <a:t>Công nghệ sử dụng:</a:t>
              </a:r>
            </a:p>
            <a:p>
              <a:pPr marL="474981" lvl="1" indent="-237491" algn="just">
                <a:lnSpc>
                  <a:spcPts val="3080"/>
                </a:lnSpc>
                <a:buFont typeface="Arial"/>
                <a:buChar char="•"/>
              </a:pPr>
              <a:r>
                <a:rPr lang="en-US" sz="2200">
                  <a:solidFill>
                    <a:srgbClr val="D9D9D9"/>
                  </a:solidFill>
                  <a:latin typeface="Raleway"/>
                  <a:ea typeface="Raleway"/>
                  <a:cs typeface="Raleway"/>
                  <a:sym typeface="Raleway"/>
                </a:rPr>
                <a:t>Backend: Java Spring Boot.</a:t>
              </a:r>
            </a:p>
            <a:p>
              <a:pPr marL="474981" lvl="1" indent="-237491" algn="just">
                <a:lnSpc>
                  <a:spcPts val="3080"/>
                </a:lnSpc>
                <a:buFont typeface="Arial"/>
                <a:buChar char="•"/>
              </a:pPr>
              <a:r>
                <a:rPr lang="en-US" sz="2200">
                  <a:solidFill>
                    <a:srgbClr val="D9D9D9"/>
                  </a:solidFill>
                  <a:latin typeface="Raleway"/>
                  <a:ea typeface="Raleway"/>
                  <a:cs typeface="Raleway"/>
                  <a:sym typeface="Raleway"/>
                </a:rPr>
                <a:t>Database: PostgreSql.</a:t>
              </a:r>
            </a:p>
            <a:p>
              <a:pPr marL="0" lvl="0" indent="0" algn="just">
                <a:lnSpc>
                  <a:spcPts val="3080"/>
                </a:lnSpc>
              </a:pPr>
              <a:endParaRPr lang="en-US" sz="2200">
                <a:solidFill>
                  <a:srgbClr val="D9D9D9"/>
                </a:solidFill>
                <a:latin typeface="Raleway"/>
                <a:ea typeface="Raleway"/>
                <a:cs typeface="Raleway"/>
                <a:sym typeface="Raleway"/>
              </a:endParaRPr>
            </a:p>
          </p:txBody>
        </p:sp>
      </p:grpSp>
      <p:sp>
        <p:nvSpPr>
          <p:cNvPr id="9" name="TextBox 9"/>
          <p:cNvSpPr txBox="1"/>
          <p:nvPr/>
        </p:nvSpPr>
        <p:spPr>
          <a:xfrm>
            <a:off x="17485343" y="9412274"/>
            <a:ext cx="152400" cy="209550"/>
          </a:xfrm>
          <a:prstGeom prst="rect">
            <a:avLst/>
          </a:prstGeom>
        </p:spPr>
        <p:txBody>
          <a:bodyPr wrap="none" lIns="0" tIns="0" rIns="0" bIns="0" rtlCol="0" anchor="t">
            <a:spAutoFit/>
          </a:bodyPr>
          <a:lstStyle/>
          <a:p>
            <a:pPr algn="r">
              <a:lnSpc>
                <a:spcPts val="2800"/>
              </a:lnSpc>
              <a:spcBef>
                <a:spcPct val="0"/>
              </a:spcBef>
            </a:pPr>
            <a:r>
              <a:rPr lang="en-US" sz="2000">
                <a:solidFill>
                  <a:srgbClr val="D9D9D9"/>
                </a:solidFill>
                <a:latin typeface="Raleway"/>
                <a:ea typeface="Raleway"/>
                <a:cs typeface="Raleway"/>
                <a:sym typeface="Raleway"/>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A2A2A"/>
        </a:solidFill>
        <a:effectLst/>
      </p:bgPr>
    </p:bg>
    <p:spTree>
      <p:nvGrpSpPr>
        <p:cNvPr id="1" name=""/>
        <p:cNvGrpSpPr/>
        <p:nvPr/>
      </p:nvGrpSpPr>
      <p:grpSpPr>
        <a:xfrm>
          <a:off x="0" y="0"/>
          <a:ext cx="0" cy="0"/>
          <a:chOff x="0" y="0"/>
          <a:chExt cx="0" cy="0"/>
        </a:xfrm>
      </p:grpSpPr>
      <p:sp>
        <p:nvSpPr>
          <p:cNvPr id="2" name="TextBox 2"/>
          <p:cNvSpPr txBox="1"/>
          <p:nvPr/>
        </p:nvSpPr>
        <p:spPr>
          <a:xfrm>
            <a:off x="666750" y="742950"/>
            <a:ext cx="11201400" cy="2552700"/>
          </a:xfrm>
          <a:prstGeom prst="rect">
            <a:avLst/>
          </a:prstGeom>
        </p:spPr>
        <p:txBody>
          <a:bodyPr lIns="0" tIns="0" rIns="0" bIns="0" rtlCol="0" anchor="t">
            <a:spAutoFit/>
          </a:bodyPr>
          <a:lstStyle/>
          <a:p>
            <a:pPr marL="0" lvl="0" indent="0" algn="l">
              <a:lnSpc>
                <a:spcPts val="9900"/>
              </a:lnSpc>
            </a:pPr>
            <a:r>
              <a:rPr lang="en-US" sz="9000">
                <a:solidFill>
                  <a:srgbClr val="4D8AF0"/>
                </a:solidFill>
                <a:latin typeface="Raleway"/>
                <a:ea typeface="Raleway"/>
                <a:cs typeface="Raleway"/>
                <a:sym typeface="Raleway"/>
              </a:rPr>
              <a:t>Chiến lược Kiểm thử Hiệu quả</a:t>
            </a:r>
          </a:p>
        </p:txBody>
      </p:sp>
      <p:grpSp>
        <p:nvGrpSpPr>
          <p:cNvPr id="3" name="Group 3"/>
          <p:cNvGrpSpPr/>
          <p:nvPr/>
        </p:nvGrpSpPr>
        <p:grpSpPr>
          <a:xfrm>
            <a:off x="666750" y="3916117"/>
            <a:ext cx="5448300" cy="3239811"/>
            <a:chOff x="0" y="0"/>
            <a:chExt cx="7264400" cy="4319747"/>
          </a:xfrm>
        </p:grpSpPr>
        <p:sp>
          <p:nvSpPr>
            <p:cNvPr id="4" name="TextBox 4"/>
            <p:cNvSpPr txBox="1"/>
            <p:nvPr/>
          </p:nvSpPr>
          <p:spPr>
            <a:xfrm>
              <a:off x="0" y="19050"/>
              <a:ext cx="7264400" cy="590550"/>
            </a:xfrm>
            <a:prstGeom prst="rect">
              <a:avLst/>
            </a:prstGeom>
          </p:spPr>
          <p:txBody>
            <a:bodyPr lIns="0" tIns="0" rIns="0" bIns="0" rtlCol="0" anchor="t">
              <a:spAutoFit/>
            </a:bodyPr>
            <a:lstStyle/>
            <a:p>
              <a:pPr marL="0" lvl="0" indent="0" algn="l">
                <a:lnSpc>
                  <a:spcPts val="3300"/>
                </a:lnSpc>
              </a:pPr>
              <a:r>
                <a:rPr lang="en-US" sz="3000" b="1">
                  <a:solidFill>
                    <a:srgbClr val="8AB8FF"/>
                  </a:solidFill>
                  <a:latin typeface="Raleway Bold"/>
                  <a:ea typeface="Raleway Bold"/>
                  <a:cs typeface="Raleway Bold"/>
                  <a:sym typeface="Raleway Bold"/>
                </a:rPr>
                <a:t>Phương pháp tiếp cận:</a:t>
              </a:r>
            </a:p>
          </p:txBody>
        </p:sp>
        <p:sp>
          <p:nvSpPr>
            <p:cNvPr id="5" name="TextBox 5"/>
            <p:cNvSpPr txBox="1"/>
            <p:nvPr/>
          </p:nvSpPr>
          <p:spPr>
            <a:xfrm>
              <a:off x="0" y="1222429"/>
              <a:ext cx="7264400" cy="3097318"/>
            </a:xfrm>
            <a:prstGeom prst="rect">
              <a:avLst/>
            </a:prstGeom>
          </p:spPr>
          <p:txBody>
            <a:bodyPr lIns="0" tIns="0" rIns="0" bIns="0" rtlCol="0" anchor="t">
              <a:spAutoFit/>
            </a:bodyPr>
            <a:lstStyle/>
            <a:p>
              <a:pPr marL="474981" lvl="1" indent="-237491" algn="l">
                <a:lnSpc>
                  <a:spcPts val="3080"/>
                </a:lnSpc>
                <a:buFont typeface="Arial"/>
                <a:buChar char="•"/>
              </a:pPr>
              <a:r>
                <a:rPr lang="en-US" sz="2200">
                  <a:solidFill>
                    <a:srgbClr val="D9D9D9"/>
                  </a:solidFill>
                  <a:latin typeface="Raleway"/>
                  <a:ea typeface="Raleway"/>
                  <a:cs typeface="Raleway"/>
                  <a:sym typeface="Raleway"/>
                </a:rPr>
                <a:t>Kiểm thử đơn vị (Unit Testing): Tập trung kiểm tra logic nghiệp vụ của BookingService.</a:t>
              </a:r>
            </a:p>
            <a:p>
              <a:pPr marL="474981" lvl="1" indent="-237491" algn="l">
                <a:lnSpc>
                  <a:spcPts val="3080"/>
                </a:lnSpc>
                <a:buFont typeface="Arial"/>
                <a:buChar char="•"/>
              </a:pPr>
              <a:r>
                <a:rPr lang="en-US" sz="2200">
                  <a:solidFill>
                    <a:srgbClr val="D9D9D9"/>
                  </a:solidFill>
                  <a:latin typeface="Raleway"/>
                  <a:ea typeface="Raleway"/>
                  <a:cs typeface="Raleway"/>
                  <a:sym typeface="Raleway"/>
                </a:rPr>
                <a:t>Kiểm thử: Đi sâu vào mã nguồn để tìm lỗi logic.</a:t>
              </a:r>
            </a:p>
            <a:p>
              <a:pPr marL="0" lvl="0" indent="0" algn="l">
                <a:lnSpc>
                  <a:spcPts val="3080"/>
                </a:lnSpc>
              </a:pPr>
              <a:endParaRPr lang="en-US" sz="2200">
                <a:solidFill>
                  <a:srgbClr val="D9D9D9"/>
                </a:solidFill>
                <a:latin typeface="Raleway"/>
                <a:ea typeface="Raleway"/>
                <a:cs typeface="Raleway"/>
                <a:sym typeface="Raleway"/>
              </a:endParaRPr>
            </a:p>
          </p:txBody>
        </p:sp>
      </p:grpSp>
      <p:grpSp>
        <p:nvGrpSpPr>
          <p:cNvPr id="6" name="Group 6"/>
          <p:cNvGrpSpPr/>
          <p:nvPr/>
        </p:nvGrpSpPr>
        <p:grpSpPr>
          <a:xfrm>
            <a:off x="6267450" y="3916117"/>
            <a:ext cx="5448300" cy="3218588"/>
            <a:chOff x="0" y="0"/>
            <a:chExt cx="7264400" cy="4291450"/>
          </a:xfrm>
        </p:grpSpPr>
        <p:sp>
          <p:nvSpPr>
            <p:cNvPr id="7" name="TextBox 7"/>
            <p:cNvSpPr txBox="1"/>
            <p:nvPr/>
          </p:nvSpPr>
          <p:spPr>
            <a:xfrm>
              <a:off x="0" y="19050"/>
              <a:ext cx="7264400" cy="590550"/>
            </a:xfrm>
            <a:prstGeom prst="rect">
              <a:avLst/>
            </a:prstGeom>
          </p:spPr>
          <p:txBody>
            <a:bodyPr lIns="0" tIns="0" rIns="0" bIns="0" rtlCol="0" anchor="t">
              <a:spAutoFit/>
            </a:bodyPr>
            <a:lstStyle/>
            <a:p>
              <a:pPr marL="0" lvl="0" indent="0" algn="l">
                <a:lnSpc>
                  <a:spcPts val="3300"/>
                </a:lnSpc>
              </a:pPr>
              <a:r>
                <a:rPr lang="en-US" sz="3000" b="1">
                  <a:solidFill>
                    <a:srgbClr val="8AB8FF"/>
                  </a:solidFill>
                  <a:latin typeface="Raleway Bold"/>
                  <a:ea typeface="Raleway Bold"/>
                  <a:cs typeface="Raleway Bold"/>
                  <a:sym typeface="Raleway Bold"/>
                </a:rPr>
                <a:t>Công cụ sử dụng:</a:t>
              </a:r>
            </a:p>
          </p:txBody>
        </p:sp>
        <p:sp>
          <p:nvSpPr>
            <p:cNvPr id="8" name="TextBox 8"/>
            <p:cNvSpPr txBox="1"/>
            <p:nvPr/>
          </p:nvSpPr>
          <p:spPr>
            <a:xfrm>
              <a:off x="0" y="1194132"/>
              <a:ext cx="7264400" cy="3097318"/>
            </a:xfrm>
            <a:prstGeom prst="rect">
              <a:avLst/>
            </a:prstGeom>
          </p:spPr>
          <p:txBody>
            <a:bodyPr lIns="0" tIns="0" rIns="0" bIns="0" rtlCol="0" anchor="t">
              <a:spAutoFit/>
            </a:bodyPr>
            <a:lstStyle/>
            <a:p>
              <a:pPr marL="474981" lvl="1" indent="-237491" algn="l">
                <a:lnSpc>
                  <a:spcPts val="3080"/>
                </a:lnSpc>
                <a:buFont typeface="Arial"/>
                <a:buChar char="•"/>
              </a:pPr>
              <a:r>
                <a:rPr lang="en-US" sz="2200">
                  <a:solidFill>
                    <a:srgbClr val="D9D9D9"/>
                  </a:solidFill>
                  <a:latin typeface="Raleway"/>
                  <a:ea typeface="Raleway"/>
                  <a:cs typeface="Raleway"/>
                  <a:sym typeface="Raleway"/>
                </a:rPr>
                <a:t>JUnit 5: Framework t</a:t>
              </a:r>
              <a:r>
                <a:rPr lang="en-US" sz="2200" u="none" strike="noStrike">
                  <a:solidFill>
                    <a:srgbClr val="D9D9D9"/>
                  </a:solidFill>
                  <a:latin typeface="Raleway"/>
                  <a:ea typeface="Raleway"/>
                  <a:cs typeface="Raleway"/>
                  <a:sym typeface="Raleway"/>
                </a:rPr>
                <a:t>hực thi các Test Case tự động.</a:t>
              </a:r>
            </a:p>
            <a:p>
              <a:pPr marL="474981" lvl="1" indent="-237491" algn="l">
                <a:lnSpc>
                  <a:spcPts val="3080"/>
                </a:lnSpc>
                <a:buFont typeface="Arial"/>
                <a:buChar char="•"/>
              </a:pPr>
              <a:r>
                <a:rPr lang="en-US" sz="2200" u="none" strike="noStrike">
                  <a:solidFill>
                    <a:srgbClr val="D9D9D9"/>
                  </a:solidFill>
                  <a:latin typeface="Raleway"/>
                  <a:ea typeface="Raleway"/>
                  <a:cs typeface="Raleway"/>
                  <a:sym typeface="Raleway"/>
                </a:rPr>
                <a:t>Mockito: Thư viện giả lập các đối tượng phụ thuộc  như Database Repository và MoMo Service.</a:t>
              </a:r>
            </a:p>
            <a:p>
              <a:pPr marL="0" lvl="0" indent="0" algn="l">
                <a:lnSpc>
                  <a:spcPts val="3080"/>
                </a:lnSpc>
              </a:pPr>
              <a:endParaRPr lang="en-US" sz="2200" u="none" strike="noStrike">
                <a:solidFill>
                  <a:srgbClr val="D9D9D9"/>
                </a:solidFill>
                <a:latin typeface="Raleway"/>
                <a:ea typeface="Raleway"/>
                <a:cs typeface="Raleway"/>
                <a:sym typeface="Raleway"/>
              </a:endParaRPr>
            </a:p>
          </p:txBody>
        </p:sp>
      </p:grpSp>
      <p:grpSp>
        <p:nvGrpSpPr>
          <p:cNvPr id="9" name="Group 9"/>
          <p:cNvGrpSpPr/>
          <p:nvPr/>
        </p:nvGrpSpPr>
        <p:grpSpPr>
          <a:xfrm>
            <a:off x="12024832" y="3916117"/>
            <a:ext cx="5448347" cy="2458810"/>
            <a:chOff x="0" y="0"/>
            <a:chExt cx="7264463" cy="3278414"/>
          </a:xfrm>
        </p:grpSpPr>
        <p:sp>
          <p:nvSpPr>
            <p:cNvPr id="10" name="TextBox 10"/>
            <p:cNvSpPr txBox="1"/>
            <p:nvPr/>
          </p:nvSpPr>
          <p:spPr>
            <a:xfrm>
              <a:off x="63" y="19050"/>
              <a:ext cx="7264400" cy="590550"/>
            </a:xfrm>
            <a:prstGeom prst="rect">
              <a:avLst/>
            </a:prstGeom>
          </p:spPr>
          <p:txBody>
            <a:bodyPr lIns="0" tIns="0" rIns="0" bIns="0" rtlCol="0" anchor="t">
              <a:spAutoFit/>
            </a:bodyPr>
            <a:lstStyle/>
            <a:p>
              <a:pPr marL="0" lvl="0" indent="0" algn="l">
                <a:lnSpc>
                  <a:spcPts val="3300"/>
                </a:lnSpc>
              </a:pPr>
              <a:r>
                <a:rPr lang="en-US" sz="3000" b="1">
                  <a:solidFill>
                    <a:srgbClr val="8AB8FF"/>
                  </a:solidFill>
                  <a:latin typeface="Raleway Bold"/>
                  <a:ea typeface="Raleway Bold"/>
                  <a:cs typeface="Raleway Bold"/>
                  <a:sym typeface="Raleway Bold"/>
                </a:rPr>
                <a:t>Kỹ thuật</a:t>
              </a:r>
            </a:p>
          </p:txBody>
        </p:sp>
        <p:sp>
          <p:nvSpPr>
            <p:cNvPr id="11" name="TextBox 11"/>
            <p:cNvSpPr txBox="1"/>
            <p:nvPr/>
          </p:nvSpPr>
          <p:spPr>
            <a:xfrm>
              <a:off x="0" y="1222495"/>
              <a:ext cx="7264400" cy="2055918"/>
            </a:xfrm>
            <a:prstGeom prst="rect">
              <a:avLst/>
            </a:prstGeom>
          </p:spPr>
          <p:txBody>
            <a:bodyPr lIns="0" tIns="0" rIns="0" bIns="0" rtlCol="0" anchor="t">
              <a:spAutoFit/>
            </a:bodyPr>
            <a:lstStyle/>
            <a:p>
              <a:pPr marL="474981" lvl="1" indent="-237491" algn="l">
                <a:lnSpc>
                  <a:spcPts val="3080"/>
                </a:lnSpc>
                <a:buFont typeface="Arial"/>
                <a:buChar char="•"/>
              </a:pPr>
              <a:r>
                <a:rPr lang="en-US" sz="2200">
                  <a:solidFill>
                    <a:srgbClr val="D9D9D9"/>
                  </a:solidFill>
                  <a:latin typeface="Raleway"/>
                  <a:ea typeface="Raleway"/>
                  <a:cs typeface="Raleway"/>
                  <a:sym typeface="Raleway"/>
                </a:rPr>
                <a:t>Giả lập Đa luồng (Multi-thr</a:t>
              </a:r>
              <a:r>
                <a:rPr lang="en-US" sz="2200" u="none" strike="noStrike">
                  <a:solidFill>
                    <a:srgbClr val="D9D9D9"/>
                  </a:solidFill>
                  <a:latin typeface="Raleway"/>
                  <a:ea typeface="Raleway"/>
                  <a:cs typeface="Raleway"/>
                  <a:sym typeface="Raleway"/>
                </a:rPr>
                <a:t>eading Simulation): Khởi tạo 2 luồng (Threads) người dùng song song để tấn công vào hàm đặt vé cùng một thời điểm.</a:t>
              </a:r>
            </a:p>
          </p:txBody>
        </p:sp>
      </p:grpSp>
      <p:sp>
        <p:nvSpPr>
          <p:cNvPr id="12" name="TextBox 12"/>
          <p:cNvSpPr txBox="1"/>
          <p:nvPr/>
        </p:nvSpPr>
        <p:spPr>
          <a:xfrm>
            <a:off x="17403826" y="9412274"/>
            <a:ext cx="152400" cy="209550"/>
          </a:xfrm>
          <a:prstGeom prst="rect">
            <a:avLst/>
          </a:prstGeom>
        </p:spPr>
        <p:txBody>
          <a:bodyPr wrap="none" lIns="0" tIns="0" rIns="0" bIns="0" rtlCol="0" anchor="t">
            <a:spAutoFit/>
          </a:bodyPr>
          <a:lstStyle/>
          <a:p>
            <a:pPr algn="r">
              <a:lnSpc>
                <a:spcPts val="2800"/>
              </a:lnSpc>
              <a:spcBef>
                <a:spcPct val="0"/>
              </a:spcBef>
            </a:pPr>
            <a:r>
              <a:rPr lang="en-US" sz="2000">
                <a:solidFill>
                  <a:srgbClr val="D9D9D9"/>
                </a:solidFill>
                <a:latin typeface="Raleway"/>
                <a:ea typeface="Raleway"/>
                <a:cs typeface="Raleway"/>
                <a:sym typeface="Raleway"/>
              </a:rPr>
              <a:t>5</a:t>
            </a:r>
          </a:p>
        </p:txBody>
      </p:sp>
      <p:sp>
        <p:nvSpPr>
          <p:cNvPr id="13" name="AutoShape 13"/>
          <p:cNvSpPr/>
          <p:nvPr/>
        </p:nvSpPr>
        <p:spPr>
          <a:xfrm>
            <a:off x="1431704" y="9610725"/>
            <a:ext cx="15624461" cy="0"/>
          </a:xfrm>
          <a:prstGeom prst="line">
            <a:avLst/>
          </a:prstGeom>
          <a:ln w="19050" cap="flat">
            <a:solidFill>
              <a:srgbClr val="4D8AF0"/>
            </a:solidFill>
            <a:prstDash val="solid"/>
            <a:headEnd type="none" w="sm" len="sm"/>
            <a:tailEnd type="none" w="sm" len="sm"/>
          </a:ln>
        </p:spPr>
        <p:txBody>
          <a:bodyPr/>
          <a:lstStyle/>
          <a:p>
            <a:endParaRPr lang="en-US"/>
          </a:p>
        </p:txBody>
      </p:sp>
      <p:sp>
        <p:nvSpPr>
          <p:cNvPr id="14" name="Freeform 14"/>
          <p:cNvSpPr/>
          <p:nvPr/>
        </p:nvSpPr>
        <p:spPr>
          <a:xfrm>
            <a:off x="671512" y="9387884"/>
            <a:ext cx="445682" cy="445682"/>
          </a:xfrm>
          <a:custGeom>
            <a:avLst/>
            <a:gdLst/>
            <a:ahLst/>
            <a:cxnLst/>
            <a:rect l="l" t="t" r="r" b="b"/>
            <a:pathLst>
              <a:path w="445682" h="445682">
                <a:moveTo>
                  <a:pt x="0" y="0"/>
                </a:moveTo>
                <a:lnTo>
                  <a:pt x="445683" y="0"/>
                </a:lnTo>
                <a:lnTo>
                  <a:pt x="445683" y="445682"/>
                </a:lnTo>
                <a:lnTo>
                  <a:pt x="0" y="44568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5" name="Freeform 15"/>
          <p:cNvSpPr/>
          <p:nvPr/>
        </p:nvSpPr>
        <p:spPr>
          <a:xfrm rot="8410794">
            <a:off x="14883321" y="-3075217"/>
            <a:ext cx="7440338" cy="5072958"/>
          </a:xfrm>
          <a:custGeom>
            <a:avLst/>
            <a:gdLst/>
            <a:ahLst/>
            <a:cxnLst/>
            <a:rect l="l" t="t" r="r" b="b"/>
            <a:pathLst>
              <a:path w="7440338" h="5072958">
                <a:moveTo>
                  <a:pt x="0" y="0"/>
                </a:moveTo>
                <a:lnTo>
                  <a:pt x="7440338" y="0"/>
                </a:lnTo>
                <a:lnTo>
                  <a:pt x="7440338" y="5072958"/>
                </a:lnTo>
                <a:lnTo>
                  <a:pt x="0" y="507295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AutoShape 2"/>
          <p:cNvSpPr/>
          <p:nvPr/>
        </p:nvSpPr>
        <p:spPr>
          <a:xfrm>
            <a:off x="1431704" y="9610725"/>
            <a:ext cx="15624461" cy="0"/>
          </a:xfrm>
          <a:prstGeom prst="line">
            <a:avLst/>
          </a:prstGeom>
          <a:ln w="19050" cap="flat">
            <a:solidFill>
              <a:srgbClr val="8AB8FF"/>
            </a:solidFill>
            <a:prstDash val="solid"/>
            <a:headEnd type="none" w="sm" len="sm"/>
            <a:tailEnd type="none" w="sm" len="sm"/>
          </a:ln>
        </p:spPr>
        <p:txBody>
          <a:bodyPr/>
          <a:lstStyle/>
          <a:p>
            <a:endParaRPr lang="en-US"/>
          </a:p>
        </p:txBody>
      </p:sp>
      <p:sp>
        <p:nvSpPr>
          <p:cNvPr id="3" name="Freeform 3"/>
          <p:cNvSpPr/>
          <p:nvPr/>
        </p:nvSpPr>
        <p:spPr>
          <a:xfrm>
            <a:off x="671512" y="9387884"/>
            <a:ext cx="445682" cy="445682"/>
          </a:xfrm>
          <a:custGeom>
            <a:avLst/>
            <a:gdLst/>
            <a:ahLst/>
            <a:cxnLst/>
            <a:rect l="l" t="t" r="r" b="b"/>
            <a:pathLst>
              <a:path w="445682" h="445682">
                <a:moveTo>
                  <a:pt x="0" y="0"/>
                </a:moveTo>
                <a:lnTo>
                  <a:pt x="445683" y="0"/>
                </a:lnTo>
                <a:lnTo>
                  <a:pt x="445683" y="445682"/>
                </a:lnTo>
                <a:lnTo>
                  <a:pt x="0" y="44568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4" name="Group 4"/>
          <p:cNvGrpSpPr/>
          <p:nvPr/>
        </p:nvGrpSpPr>
        <p:grpSpPr>
          <a:xfrm>
            <a:off x="7709082" y="756397"/>
            <a:ext cx="9914731" cy="7921746"/>
            <a:chOff x="0" y="0"/>
            <a:chExt cx="13219641" cy="10562328"/>
          </a:xfrm>
        </p:grpSpPr>
        <p:sp>
          <p:nvSpPr>
            <p:cNvPr id="5" name="TextBox 5"/>
            <p:cNvSpPr txBox="1"/>
            <p:nvPr/>
          </p:nvSpPr>
          <p:spPr>
            <a:xfrm>
              <a:off x="0" y="76200"/>
              <a:ext cx="13017500" cy="1752600"/>
            </a:xfrm>
            <a:prstGeom prst="rect">
              <a:avLst/>
            </a:prstGeom>
          </p:spPr>
          <p:txBody>
            <a:bodyPr lIns="0" tIns="0" rIns="0" bIns="0" rtlCol="0" anchor="t">
              <a:spAutoFit/>
            </a:bodyPr>
            <a:lstStyle/>
            <a:p>
              <a:pPr marL="0" lvl="0" indent="0" algn="l">
                <a:lnSpc>
                  <a:spcPts val="9900"/>
                </a:lnSpc>
              </a:pPr>
              <a:r>
                <a:rPr lang="en-US" sz="9000">
                  <a:solidFill>
                    <a:srgbClr val="4D8AF0"/>
                  </a:solidFill>
                  <a:latin typeface="Raleway"/>
                  <a:ea typeface="Raleway"/>
                  <a:cs typeface="Raleway"/>
                  <a:sym typeface="Raleway"/>
                </a:rPr>
                <a:t>Kết quả Kiểm thử</a:t>
              </a:r>
            </a:p>
          </p:txBody>
        </p:sp>
        <p:sp>
          <p:nvSpPr>
            <p:cNvPr id="6" name="TextBox 6"/>
            <p:cNvSpPr txBox="1"/>
            <p:nvPr/>
          </p:nvSpPr>
          <p:spPr>
            <a:xfrm>
              <a:off x="0" y="1949414"/>
              <a:ext cx="13017500" cy="1149350"/>
            </a:xfrm>
            <a:prstGeom prst="rect">
              <a:avLst/>
            </a:prstGeom>
          </p:spPr>
          <p:txBody>
            <a:bodyPr lIns="0" tIns="0" rIns="0" bIns="0" rtlCol="0" anchor="t">
              <a:spAutoFit/>
            </a:bodyPr>
            <a:lstStyle/>
            <a:p>
              <a:pPr marL="0" lvl="0" indent="0" algn="l">
                <a:lnSpc>
                  <a:spcPts val="3300"/>
                </a:lnSpc>
              </a:pPr>
              <a:r>
                <a:rPr lang="en-US" sz="3000">
                  <a:solidFill>
                    <a:srgbClr val="8AB8FF"/>
                  </a:solidFill>
                  <a:latin typeface="Raleway"/>
                  <a:ea typeface="Raleway"/>
                  <a:cs typeface="Raleway"/>
                  <a:sym typeface="Raleway"/>
                </a:rPr>
                <a:t>Tổng quan về kết quả test case và độ bao phủ của kịch bản</a:t>
              </a:r>
            </a:p>
          </p:txBody>
        </p:sp>
        <p:sp>
          <p:nvSpPr>
            <p:cNvPr id="7" name="TextBox 7"/>
            <p:cNvSpPr txBox="1"/>
            <p:nvPr/>
          </p:nvSpPr>
          <p:spPr>
            <a:xfrm>
              <a:off x="0" y="4235414"/>
              <a:ext cx="13219641" cy="6326914"/>
            </a:xfrm>
            <a:prstGeom prst="rect">
              <a:avLst/>
            </a:prstGeom>
          </p:spPr>
          <p:txBody>
            <a:bodyPr lIns="0" tIns="0" rIns="0" bIns="0" rtlCol="0" anchor="t">
              <a:spAutoFit/>
            </a:bodyPr>
            <a:lstStyle/>
            <a:p>
              <a:pPr marL="482357" lvl="1" indent="-241178" algn="l">
                <a:lnSpc>
                  <a:spcPts val="3127"/>
                </a:lnSpc>
                <a:buFont typeface="Arial"/>
                <a:buChar char="•"/>
              </a:pPr>
              <a:r>
                <a:rPr lang="en-US" sz="2234">
                  <a:solidFill>
                    <a:srgbClr val="D9D9D9"/>
                  </a:solidFill>
                  <a:latin typeface="Raleway"/>
                  <a:ea typeface="Raleway"/>
                  <a:cs typeface="Raleway"/>
                  <a:sym typeface="Raleway"/>
                </a:rPr>
                <a:t>Thống kê tổng quát:</a:t>
              </a:r>
            </a:p>
            <a:p>
              <a:pPr marL="482357" lvl="1" indent="-241178" algn="l">
                <a:lnSpc>
                  <a:spcPts val="3127"/>
                </a:lnSpc>
                <a:buFont typeface="Arial"/>
                <a:buChar char="•"/>
              </a:pPr>
              <a:r>
                <a:rPr lang="en-US" sz="2234">
                  <a:solidFill>
                    <a:srgbClr val="D9D9D9"/>
                  </a:solidFill>
                  <a:latin typeface="Raleway"/>
                  <a:ea typeface="Raleway"/>
                  <a:cs typeface="Raleway"/>
                  <a:sym typeface="Raleway"/>
                </a:rPr>
                <a:t>Tổng số Test Case: 15 trường hợp.</a:t>
              </a:r>
            </a:p>
            <a:p>
              <a:pPr marL="482357" lvl="1" indent="-241178" algn="l">
                <a:lnSpc>
                  <a:spcPts val="3127"/>
                </a:lnSpc>
                <a:buFont typeface="Arial"/>
                <a:buChar char="•"/>
              </a:pPr>
              <a:r>
                <a:rPr lang="en-US" sz="2234">
                  <a:solidFill>
                    <a:srgbClr val="D9D9D9"/>
                  </a:solidFill>
                  <a:latin typeface="Raleway"/>
                  <a:ea typeface="Raleway"/>
                  <a:cs typeface="Raleway"/>
                  <a:sym typeface="Raleway"/>
                </a:rPr>
                <a:t>Độ bao phủ (Coverage): 100% kịch bản theo kế hoạch.</a:t>
              </a:r>
            </a:p>
            <a:p>
              <a:pPr marL="482357" lvl="1" indent="-241178" algn="l">
                <a:lnSpc>
                  <a:spcPts val="3127"/>
                </a:lnSpc>
                <a:buFont typeface="Arial"/>
                <a:buChar char="•"/>
              </a:pPr>
              <a:r>
                <a:rPr lang="en-US" sz="2234">
                  <a:solidFill>
                    <a:srgbClr val="D9D9D9"/>
                  </a:solidFill>
                  <a:latin typeface="Raleway"/>
                  <a:ea typeface="Raleway"/>
                  <a:cs typeface="Raleway"/>
                  <a:sym typeface="Raleway"/>
                </a:rPr>
                <a:t>Chi tiết kết quả:</a:t>
              </a:r>
            </a:p>
            <a:p>
              <a:pPr marL="482357" lvl="1" indent="-241178" algn="l">
                <a:lnSpc>
                  <a:spcPts val="3127"/>
                </a:lnSpc>
                <a:buFont typeface="Arial"/>
                <a:buChar char="•"/>
              </a:pPr>
              <a:r>
                <a:rPr lang="en-US" sz="2234">
                  <a:solidFill>
                    <a:srgbClr val="D9D9D9"/>
                  </a:solidFill>
                  <a:latin typeface="Raleway"/>
                  <a:ea typeface="Raleway"/>
                  <a:cs typeface="Raleway"/>
                  <a:sym typeface="Raleway"/>
                </a:rPr>
                <a:t>✅ PASSED (Thành công): 12/15 (80%)</a:t>
              </a:r>
            </a:p>
            <a:p>
              <a:pPr marL="964714" lvl="2" indent="-321571" algn="l">
                <a:lnSpc>
                  <a:spcPts val="3127"/>
                </a:lnSpc>
                <a:buFont typeface="Arial"/>
                <a:buChar char="⚬"/>
              </a:pPr>
              <a:r>
                <a:rPr lang="en-US" sz="2234">
                  <a:solidFill>
                    <a:srgbClr val="D9D9D9"/>
                  </a:solidFill>
                  <a:latin typeface="Raleway"/>
                  <a:ea typeface="Raleway"/>
                  <a:cs typeface="Raleway"/>
                  <a:sym typeface="Raleway"/>
                </a:rPr>
                <a:t>Bao gồm: Các chức năng đặt vé cơ bản, kiểm tra dữ liệu đầu vào (Validation), luồng hủy vé tự động (Liveness).</a:t>
              </a:r>
            </a:p>
            <a:p>
              <a:pPr marL="482357" lvl="1" indent="-241178" algn="l">
                <a:lnSpc>
                  <a:spcPts val="3127"/>
                </a:lnSpc>
                <a:buFont typeface="Arial"/>
                <a:buChar char="•"/>
              </a:pPr>
              <a:r>
                <a:rPr lang="en-US" sz="2234">
                  <a:solidFill>
                    <a:srgbClr val="D9D9D9"/>
                  </a:solidFill>
                  <a:latin typeface="Raleway"/>
                  <a:ea typeface="Raleway"/>
                  <a:cs typeface="Raleway"/>
                  <a:sym typeface="Raleway"/>
                </a:rPr>
                <a:t>❌ FAILED (Thất bại): 3/15 (20%)</a:t>
              </a:r>
            </a:p>
            <a:p>
              <a:pPr marL="964714" lvl="2" indent="-321571" algn="l">
                <a:lnSpc>
                  <a:spcPts val="3127"/>
                </a:lnSpc>
                <a:buFont typeface="Arial"/>
                <a:buChar char="⚬"/>
              </a:pPr>
              <a:r>
                <a:rPr lang="en-US" sz="2234">
                  <a:solidFill>
                    <a:srgbClr val="D9D9D9"/>
                  </a:solidFill>
                  <a:latin typeface="Raleway"/>
                  <a:ea typeface="Raleway"/>
                  <a:cs typeface="Raleway"/>
                  <a:sym typeface="Raleway"/>
                </a:rPr>
                <a:t>Bao gồm: Các kịch bản tranh chấp tài nguyên khi thanh toán Tiền mặt và MoMo.</a:t>
              </a:r>
            </a:p>
            <a:p>
              <a:pPr marL="964714" lvl="2" indent="-321571" algn="l">
                <a:lnSpc>
                  <a:spcPts val="3127"/>
                </a:lnSpc>
                <a:buFont typeface="Arial"/>
                <a:buChar char="⚬"/>
              </a:pPr>
              <a:r>
                <a:rPr lang="en-US" sz="2234">
                  <a:solidFill>
                    <a:srgbClr val="D9D9D9"/>
                  </a:solidFill>
                  <a:latin typeface="Raleway"/>
                  <a:ea typeface="Raleway"/>
                  <a:cs typeface="Raleway"/>
                  <a:sym typeface="Raleway"/>
                </a:rPr>
                <a:t>Lỗi đặt chồng chéo.</a:t>
              </a:r>
            </a:p>
            <a:p>
              <a:pPr marL="0" lvl="0" indent="0" algn="l">
                <a:lnSpc>
                  <a:spcPts val="3127"/>
                </a:lnSpc>
              </a:pPr>
              <a:endParaRPr lang="en-US" sz="2234">
                <a:solidFill>
                  <a:srgbClr val="D9D9D9"/>
                </a:solidFill>
                <a:latin typeface="Raleway"/>
                <a:ea typeface="Raleway"/>
                <a:cs typeface="Raleway"/>
                <a:sym typeface="Raleway"/>
              </a:endParaRPr>
            </a:p>
          </p:txBody>
        </p:sp>
      </p:grpSp>
      <p:sp>
        <p:nvSpPr>
          <p:cNvPr id="8" name="Freeform 8"/>
          <p:cNvSpPr/>
          <p:nvPr/>
        </p:nvSpPr>
        <p:spPr>
          <a:xfrm>
            <a:off x="894354" y="1207994"/>
            <a:ext cx="6673375" cy="6101833"/>
          </a:xfrm>
          <a:custGeom>
            <a:avLst/>
            <a:gdLst/>
            <a:ahLst/>
            <a:cxnLst/>
            <a:rect l="l" t="t" r="r" b="b"/>
            <a:pathLst>
              <a:path w="6673375" h="6101833">
                <a:moveTo>
                  <a:pt x="0" y="0"/>
                </a:moveTo>
                <a:lnTo>
                  <a:pt x="6673374" y="0"/>
                </a:lnTo>
                <a:lnTo>
                  <a:pt x="6673374" y="6101833"/>
                </a:lnTo>
                <a:lnTo>
                  <a:pt x="0" y="6101833"/>
                </a:lnTo>
                <a:lnTo>
                  <a:pt x="0" y="0"/>
                </a:lnTo>
                <a:close/>
              </a:path>
            </a:pathLst>
          </a:custGeom>
          <a:blipFill>
            <a:blip r:embed="rId4"/>
            <a:stretch>
              <a:fillRect l="-671" r="-7388"/>
            </a:stretch>
          </a:blipFill>
        </p:spPr>
        <p:txBody>
          <a:bodyPr/>
          <a:lstStyle/>
          <a:p>
            <a:endParaRPr lang="en-US"/>
          </a:p>
        </p:txBody>
      </p:sp>
      <p:sp>
        <p:nvSpPr>
          <p:cNvPr id="9" name="TextBox 9"/>
          <p:cNvSpPr txBox="1"/>
          <p:nvPr/>
        </p:nvSpPr>
        <p:spPr>
          <a:xfrm>
            <a:off x="17485343" y="9412274"/>
            <a:ext cx="152400" cy="209550"/>
          </a:xfrm>
          <a:prstGeom prst="rect">
            <a:avLst/>
          </a:prstGeom>
        </p:spPr>
        <p:txBody>
          <a:bodyPr wrap="none" lIns="0" tIns="0" rIns="0" bIns="0" rtlCol="0" anchor="t">
            <a:spAutoFit/>
          </a:bodyPr>
          <a:lstStyle/>
          <a:p>
            <a:pPr algn="r">
              <a:lnSpc>
                <a:spcPts val="2800"/>
              </a:lnSpc>
              <a:spcBef>
                <a:spcPct val="0"/>
              </a:spcBef>
            </a:pPr>
            <a:r>
              <a:rPr lang="en-US" sz="2000">
                <a:solidFill>
                  <a:srgbClr val="D9D9D9"/>
                </a:solidFill>
                <a:latin typeface="Raleway"/>
                <a:ea typeface="Raleway"/>
                <a:cs typeface="Raleway"/>
                <a:sym typeface="Raleway"/>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2A2A2A"/>
        </a:solidFill>
        <a:effectLst/>
      </p:bgPr>
    </p:bg>
    <p:spTree>
      <p:nvGrpSpPr>
        <p:cNvPr id="1" name=""/>
        <p:cNvGrpSpPr/>
        <p:nvPr/>
      </p:nvGrpSpPr>
      <p:grpSpPr>
        <a:xfrm>
          <a:off x="0" y="0"/>
          <a:ext cx="0" cy="0"/>
          <a:chOff x="0" y="0"/>
          <a:chExt cx="0" cy="0"/>
        </a:xfrm>
      </p:grpSpPr>
      <p:grpSp>
        <p:nvGrpSpPr>
          <p:cNvPr id="2" name="Group 2"/>
          <p:cNvGrpSpPr/>
          <p:nvPr/>
        </p:nvGrpSpPr>
        <p:grpSpPr>
          <a:xfrm>
            <a:off x="666750" y="666750"/>
            <a:ext cx="5753100" cy="8080381"/>
            <a:chOff x="0" y="0"/>
            <a:chExt cx="891306" cy="1251862"/>
          </a:xfrm>
        </p:grpSpPr>
        <p:sp>
          <p:nvSpPr>
            <p:cNvPr id="3" name="Freeform 3"/>
            <p:cNvSpPr/>
            <p:nvPr/>
          </p:nvSpPr>
          <p:spPr>
            <a:xfrm>
              <a:off x="0" y="0"/>
              <a:ext cx="891306" cy="1251862"/>
            </a:xfrm>
            <a:custGeom>
              <a:avLst/>
              <a:gdLst/>
              <a:ahLst/>
              <a:cxnLst/>
              <a:rect l="l" t="t" r="r" b="b"/>
              <a:pathLst>
                <a:path w="891306" h="1251862">
                  <a:moveTo>
                    <a:pt x="0" y="0"/>
                  </a:moveTo>
                  <a:lnTo>
                    <a:pt x="891306" y="0"/>
                  </a:lnTo>
                  <a:lnTo>
                    <a:pt x="891306" y="1251862"/>
                  </a:lnTo>
                  <a:lnTo>
                    <a:pt x="0" y="1251862"/>
                  </a:lnTo>
                  <a:close/>
                </a:path>
              </a:pathLst>
            </a:custGeom>
            <a:blipFill>
              <a:blip r:embed="rId2"/>
              <a:stretch>
                <a:fillRect t="-316" b="-316"/>
              </a:stretch>
            </a:blipFill>
            <a:ln w="19050" cap="sq">
              <a:solidFill>
                <a:srgbClr val="FFFFFF"/>
              </a:solidFill>
              <a:prstDash val="solid"/>
              <a:miter/>
            </a:ln>
          </p:spPr>
          <p:txBody>
            <a:bodyPr/>
            <a:lstStyle/>
            <a:p>
              <a:endParaRPr lang="en-US"/>
            </a:p>
          </p:txBody>
        </p:sp>
      </p:grpSp>
      <p:grpSp>
        <p:nvGrpSpPr>
          <p:cNvPr id="4" name="Group 4"/>
          <p:cNvGrpSpPr/>
          <p:nvPr/>
        </p:nvGrpSpPr>
        <p:grpSpPr>
          <a:xfrm>
            <a:off x="7365066" y="666750"/>
            <a:ext cx="10256184" cy="6759511"/>
            <a:chOff x="0" y="0"/>
            <a:chExt cx="13674912" cy="9012681"/>
          </a:xfrm>
        </p:grpSpPr>
        <p:sp>
          <p:nvSpPr>
            <p:cNvPr id="5" name="TextBox 5"/>
            <p:cNvSpPr txBox="1"/>
            <p:nvPr/>
          </p:nvSpPr>
          <p:spPr>
            <a:xfrm>
              <a:off x="0" y="76200"/>
              <a:ext cx="13674912" cy="3429000"/>
            </a:xfrm>
            <a:prstGeom prst="rect">
              <a:avLst/>
            </a:prstGeom>
          </p:spPr>
          <p:txBody>
            <a:bodyPr lIns="0" tIns="0" rIns="0" bIns="0" rtlCol="0" anchor="t">
              <a:spAutoFit/>
            </a:bodyPr>
            <a:lstStyle/>
            <a:p>
              <a:pPr marL="0" lvl="0" indent="0" algn="ctr">
                <a:lnSpc>
                  <a:spcPts val="9900"/>
                </a:lnSpc>
              </a:pPr>
              <a:r>
                <a:rPr lang="en-US" sz="9000">
                  <a:solidFill>
                    <a:srgbClr val="8AB8FF"/>
                  </a:solidFill>
                  <a:latin typeface="Raleway"/>
                  <a:ea typeface="Raleway"/>
                  <a:cs typeface="Raleway"/>
                  <a:sym typeface="Raleway"/>
                </a:rPr>
                <a:t>Báo cáo lỗi 1 - thanh toán tiền mặt</a:t>
              </a:r>
            </a:p>
          </p:txBody>
        </p:sp>
        <p:sp>
          <p:nvSpPr>
            <p:cNvPr id="6" name="TextBox 6"/>
            <p:cNvSpPr txBox="1"/>
            <p:nvPr/>
          </p:nvSpPr>
          <p:spPr>
            <a:xfrm>
              <a:off x="0" y="4017273"/>
              <a:ext cx="13674912" cy="590550"/>
            </a:xfrm>
            <a:prstGeom prst="rect">
              <a:avLst/>
            </a:prstGeom>
          </p:spPr>
          <p:txBody>
            <a:bodyPr lIns="0" tIns="0" rIns="0" bIns="0" rtlCol="0" anchor="t">
              <a:spAutoFit/>
            </a:bodyPr>
            <a:lstStyle/>
            <a:p>
              <a:pPr marL="0" lvl="0" indent="0" algn="l">
                <a:lnSpc>
                  <a:spcPts val="3300"/>
                </a:lnSpc>
              </a:pPr>
              <a:r>
                <a:rPr lang="en-US" sz="3000">
                  <a:solidFill>
                    <a:srgbClr val="8AB8FF"/>
                  </a:solidFill>
                  <a:latin typeface="Raleway"/>
                  <a:ea typeface="Raleway"/>
                  <a:cs typeface="Raleway"/>
                  <a:sym typeface="Raleway"/>
                </a:rPr>
                <a:t>Tên lỗi: Tranh chấp đặt vé</a:t>
              </a:r>
            </a:p>
          </p:txBody>
        </p:sp>
        <p:sp>
          <p:nvSpPr>
            <p:cNvPr id="7" name="TextBox 7"/>
            <p:cNvSpPr txBox="1"/>
            <p:nvPr/>
          </p:nvSpPr>
          <p:spPr>
            <a:xfrm>
              <a:off x="0" y="4873963"/>
              <a:ext cx="13674912" cy="4138718"/>
            </a:xfrm>
            <a:prstGeom prst="rect">
              <a:avLst/>
            </a:prstGeom>
          </p:spPr>
          <p:txBody>
            <a:bodyPr lIns="0" tIns="0" rIns="0" bIns="0" rtlCol="0" anchor="t">
              <a:spAutoFit/>
            </a:bodyPr>
            <a:lstStyle/>
            <a:p>
              <a:pPr marL="474981" lvl="1" indent="-237491" algn="just">
                <a:lnSpc>
                  <a:spcPts val="3080"/>
                </a:lnSpc>
                <a:buFont typeface="Arial"/>
                <a:buChar char="•"/>
              </a:pPr>
              <a:r>
                <a:rPr lang="en-US" sz="2200">
                  <a:solidFill>
                    <a:srgbClr val="D9D9D9"/>
                  </a:solidFill>
                  <a:latin typeface="Raleway"/>
                  <a:ea typeface="Raleway"/>
                  <a:cs typeface="Raleway"/>
                  <a:sym typeface="Raleway"/>
                </a:rPr>
                <a:t>Mô tả: Hai luồng (User) cùng thực hiện đặt 1 ghế trống tại cùng một thời điểm.</a:t>
              </a:r>
            </a:p>
            <a:p>
              <a:pPr marL="474981" lvl="1" indent="-237491" algn="just">
                <a:lnSpc>
                  <a:spcPts val="3080"/>
                </a:lnSpc>
                <a:buFont typeface="Arial"/>
                <a:buChar char="•"/>
              </a:pPr>
              <a:r>
                <a:rPr lang="en-US" sz="2200">
                  <a:solidFill>
                    <a:srgbClr val="D9D9D9"/>
                  </a:solidFill>
                  <a:latin typeface="Raleway"/>
                  <a:ea typeface="Raleway"/>
                  <a:cs typeface="Raleway"/>
                  <a:sym typeface="Raleway"/>
                </a:rPr>
                <a:t>Kết quả thực tế (Actual Result):</a:t>
              </a:r>
            </a:p>
            <a:p>
              <a:pPr marL="474981" lvl="1" indent="-237491" algn="just">
                <a:lnSpc>
                  <a:spcPts val="3080"/>
                </a:lnSpc>
                <a:buFont typeface="Arial"/>
                <a:buChar char="•"/>
              </a:pPr>
              <a:r>
                <a:rPr lang="en-US" sz="2200">
                  <a:solidFill>
                    <a:srgbClr val="D9D9D9"/>
                  </a:solidFill>
                  <a:latin typeface="Raleway"/>
                  <a:ea typeface="Raleway"/>
                  <a:cs typeface="Raleway"/>
                  <a:sym typeface="Raleway"/>
                </a:rPr>
                <a:t>Hệ thống không chặn được luồng nào.</a:t>
              </a:r>
            </a:p>
            <a:p>
              <a:pPr marL="474981" lvl="1" indent="-237491" algn="just">
                <a:lnSpc>
                  <a:spcPts val="3080"/>
                </a:lnSpc>
                <a:buFont typeface="Arial"/>
                <a:buChar char="•"/>
              </a:pPr>
              <a:r>
                <a:rPr lang="en-US" sz="2200">
                  <a:solidFill>
                    <a:srgbClr val="D9D9D9"/>
                  </a:solidFill>
                  <a:latin typeface="Raleway"/>
                  <a:ea typeface="Raleway"/>
                  <a:cs typeface="Raleway"/>
                  <a:sym typeface="Raleway"/>
                </a:rPr>
                <a:t>Database lưu 2 bản ghi vé cho cùng 1 ghế.</a:t>
              </a:r>
            </a:p>
            <a:p>
              <a:pPr marL="474981" lvl="1" indent="-237491" algn="just">
                <a:lnSpc>
                  <a:spcPts val="3080"/>
                </a:lnSpc>
                <a:buFont typeface="Arial"/>
                <a:buChar char="•"/>
              </a:pPr>
              <a:r>
                <a:rPr lang="en-US" sz="2200">
                  <a:solidFill>
                    <a:srgbClr val="D9D9D9"/>
                  </a:solidFill>
                  <a:latin typeface="Raleway"/>
                  <a:ea typeface="Raleway"/>
                  <a:cs typeface="Raleway"/>
                  <a:sym typeface="Raleway"/>
                </a:rPr>
                <a:t>Mức độ nghiêm trọng: Critical (Nghiêm trọng) - Vi phạm tính toàn vẹn dữ liệu.</a:t>
              </a:r>
            </a:p>
            <a:p>
              <a:pPr marL="0" lvl="0" indent="0" algn="just">
                <a:lnSpc>
                  <a:spcPts val="3080"/>
                </a:lnSpc>
              </a:pPr>
              <a:endParaRPr lang="en-US" sz="2200">
                <a:solidFill>
                  <a:srgbClr val="D9D9D9"/>
                </a:solidFill>
                <a:latin typeface="Raleway"/>
                <a:ea typeface="Raleway"/>
                <a:cs typeface="Raleway"/>
                <a:sym typeface="Raleway"/>
              </a:endParaRPr>
            </a:p>
          </p:txBody>
        </p:sp>
      </p:grpSp>
      <p:sp>
        <p:nvSpPr>
          <p:cNvPr id="8" name="TextBox 8"/>
          <p:cNvSpPr txBox="1"/>
          <p:nvPr/>
        </p:nvSpPr>
        <p:spPr>
          <a:xfrm>
            <a:off x="17485343" y="9412274"/>
            <a:ext cx="152400" cy="209550"/>
          </a:xfrm>
          <a:prstGeom prst="rect">
            <a:avLst/>
          </a:prstGeom>
        </p:spPr>
        <p:txBody>
          <a:bodyPr wrap="none" lIns="0" tIns="0" rIns="0" bIns="0" rtlCol="0" anchor="t">
            <a:spAutoFit/>
          </a:bodyPr>
          <a:lstStyle/>
          <a:p>
            <a:pPr algn="r">
              <a:lnSpc>
                <a:spcPts val="2800"/>
              </a:lnSpc>
              <a:spcBef>
                <a:spcPct val="0"/>
              </a:spcBef>
            </a:pPr>
            <a:r>
              <a:rPr lang="en-US" sz="2000">
                <a:solidFill>
                  <a:srgbClr val="D9D9D9"/>
                </a:solidFill>
                <a:latin typeface="Raleway"/>
                <a:ea typeface="Raleway"/>
                <a:cs typeface="Raleway"/>
                <a:sym typeface="Raleway"/>
              </a:rPr>
              <a:t>7</a:t>
            </a:r>
          </a:p>
        </p:txBody>
      </p:sp>
      <p:sp>
        <p:nvSpPr>
          <p:cNvPr id="9" name="AutoShape 9"/>
          <p:cNvSpPr/>
          <p:nvPr/>
        </p:nvSpPr>
        <p:spPr>
          <a:xfrm>
            <a:off x="1431704" y="9610725"/>
            <a:ext cx="15624461" cy="0"/>
          </a:xfrm>
          <a:prstGeom prst="line">
            <a:avLst/>
          </a:prstGeom>
          <a:ln w="19050" cap="flat">
            <a:solidFill>
              <a:srgbClr val="8AB8FF"/>
            </a:solidFill>
            <a:prstDash val="solid"/>
            <a:headEnd type="none" w="sm" len="sm"/>
            <a:tailEnd type="none" w="sm" len="sm"/>
          </a:ln>
        </p:spPr>
        <p:txBody>
          <a:bodyPr/>
          <a:lstStyle/>
          <a:p>
            <a:endParaRPr lang="en-US"/>
          </a:p>
        </p:txBody>
      </p:sp>
      <p:sp>
        <p:nvSpPr>
          <p:cNvPr id="10" name="Freeform 10"/>
          <p:cNvSpPr/>
          <p:nvPr/>
        </p:nvSpPr>
        <p:spPr>
          <a:xfrm>
            <a:off x="671512" y="9387884"/>
            <a:ext cx="445682" cy="445682"/>
          </a:xfrm>
          <a:custGeom>
            <a:avLst/>
            <a:gdLst/>
            <a:ahLst/>
            <a:cxnLst/>
            <a:rect l="l" t="t" r="r" b="b"/>
            <a:pathLst>
              <a:path w="445682" h="445682">
                <a:moveTo>
                  <a:pt x="0" y="0"/>
                </a:moveTo>
                <a:lnTo>
                  <a:pt x="445683" y="0"/>
                </a:lnTo>
                <a:lnTo>
                  <a:pt x="445683" y="445682"/>
                </a:lnTo>
                <a:lnTo>
                  <a:pt x="0" y="445682"/>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grpSp>
        <p:nvGrpSpPr>
          <p:cNvPr id="2" name="Group 2"/>
          <p:cNvGrpSpPr/>
          <p:nvPr/>
        </p:nvGrpSpPr>
        <p:grpSpPr>
          <a:xfrm>
            <a:off x="666750" y="666750"/>
            <a:ext cx="5753100" cy="8080381"/>
            <a:chOff x="0" y="0"/>
            <a:chExt cx="891306" cy="1251862"/>
          </a:xfrm>
        </p:grpSpPr>
        <p:sp>
          <p:nvSpPr>
            <p:cNvPr id="3" name="Freeform 3"/>
            <p:cNvSpPr/>
            <p:nvPr/>
          </p:nvSpPr>
          <p:spPr>
            <a:xfrm>
              <a:off x="0" y="0"/>
              <a:ext cx="891306" cy="1251862"/>
            </a:xfrm>
            <a:custGeom>
              <a:avLst/>
              <a:gdLst/>
              <a:ahLst/>
              <a:cxnLst/>
              <a:rect l="l" t="t" r="r" b="b"/>
              <a:pathLst>
                <a:path w="891306" h="1251862">
                  <a:moveTo>
                    <a:pt x="0" y="0"/>
                  </a:moveTo>
                  <a:lnTo>
                    <a:pt x="891306" y="0"/>
                  </a:lnTo>
                  <a:lnTo>
                    <a:pt x="891306" y="1251862"/>
                  </a:lnTo>
                  <a:lnTo>
                    <a:pt x="0" y="1251862"/>
                  </a:lnTo>
                  <a:close/>
                </a:path>
              </a:pathLst>
            </a:custGeom>
            <a:blipFill>
              <a:blip r:embed="rId2"/>
              <a:stretch>
                <a:fillRect t="-316" b="-316"/>
              </a:stretch>
            </a:blipFill>
            <a:ln w="19050" cap="sq">
              <a:solidFill>
                <a:srgbClr val="FFFFFF"/>
              </a:solidFill>
              <a:prstDash val="solid"/>
              <a:miter/>
            </a:ln>
          </p:spPr>
          <p:txBody>
            <a:bodyPr/>
            <a:lstStyle/>
            <a:p>
              <a:endParaRPr lang="en-US"/>
            </a:p>
          </p:txBody>
        </p:sp>
      </p:grpSp>
      <p:grpSp>
        <p:nvGrpSpPr>
          <p:cNvPr id="4" name="Group 4"/>
          <p:cNvGrpSpPr/>
          <p:nvPr/>
        </p:nvGrpSpPr>
        <p:grpSpPr>
          <a:xfrm>
            <a:off x="7858125" y="666750"/>
            <a:ext cx="9763125" cy="6511300"/>
            <a:chOff x="0" y="0"/>
            <a:chExt cx="13017500" cy="8681734"/>
          </a:xfrm>
        </p:grpSpPr>
        <p:sp>
          <p:nvSpPr>
            <p:cNvPr id="5" name="TextBox 5"/>
            <p:cNvSpPr txBox="1"/>
            <p:nvPr/>
          </p:nvSpPr>
          <p:spPr>
            <a:xfrm>
              <a:off x="0" y="76200"/>
              <a:ext cx="13017500" cy="3429000"/>
            </a:xfrm>
            <a:prstGeom prst="rect">
              <a:avLst/>
            </a:prstGeom>
          </p:spPr>
          <p:txBody>
            <a:bodyPr lIns="0" tIns="0" rIns="0" bIns="0" rtlCol="0" anchor="t">
              <a:spAutoFit/>
            </a:bodyPr>
            <a:lstStyle/>
            <a:p>
              <a:pPr marL="0" lvl="0" indent="0" algn="ctr">
                <a:lnSpc>
                  <a:spcPts val="9900"/>
                </a:lnSpc>
              </a:pPr>
              <a:r>
                <a:rPr lang="en-US" sz="9000">
                  <a:solidFill>
                    <a:srgbClr val="4D8AF0"/>
                  </a:solidFill>
                  <a:latin typeface="Raleway"/>
                  <a:ea typeface="Raleway"/>
                  <a:cs typeface="Raleway"/>
                  <a:sym typeface="Raleway"/>
                </a:rPr>
                <a:t>Báo cáo lỗi 2 -Thanh toán MoMo</a:t>
              </a:r>
            </a:p>
          </p:txBody>
        </p:sp>
        <p:sp>
          <p:nvSpPr>
            <p:cNvPr id="6" name="TextBox 6"/>
            <p:cNvSpPr txBox="1"/>
            <p:nvPr/>
          </p:nvSpPr>
          <p:spPr>
            <a:xfrm>
              <a:off x="0" y="4022520"/>
              <a:ext cx="13017500" cy="590550"/>
            </a:xfrm>
            <a:prstGeom prst="rect">
              <a:avLst/>
            </a:prstGeom>
          </p:spPr>
          <p:txBody>
            <a:bodyPr lIns="0" tIns="0" rIns="0" bIns="0" rtlCol="0" anchor="t">
              <a:spAutoFit/>
            </a:bodyPr>
            <a:lstStyle/>
            <a:p>
              <a:pPr marL="0" lvl="0" indent="0" algn="l">
                <a:lnSpc>
                  <a:spcPts val="3300"/>
                </a:lnSpc>
              </a:pPr>
              <a:r>
                <a:rPr lang="en-US" sz="3000">
                  <a:solidFill>
                    <a:srgbClr val="8AB8FF"/>
                  </a:solidFill>
                  <a:latin typeface="Raleway"/>
                  <a:ea typeface="Raleway"/>
                  <a:cs typeface="Raleway"/>
                  <a:sym typeface="Raleway"/>
                </a:rPr>
                <a:t>Tên lỗi: Đa luồng trong xử lý thanh toán.</a:t>
              </a:r>
            </a:p>
          </p:txBody>
        </p:sp>
        <p:sp>
          <p:nvSpPr>
            <p:cNvPr id="7" name="TextBox 7"/>
            <p:cNvSpPr txBox="1"/>
            <p:nvPr/>
          </p:nvSpPr>
          <p:spPr>
            <a:xfrm>
              <a:off x="0" y="5063716"/>
              <a:ext cx="13017500" cy="3618018"/>
            </a:xfrm>
            <a:prstGeom prst="rect">
              <a:avLst/>
            </a:prstGeom>
          </p:spPr>
          <p:txBody>
            <a:bodyPr lIns="0" tIns="0" rIns="0" bIns="0" rtlCol="0" anchor="t">
              <a:spAutoFit/>
            </a:bodyPr>
            <a:lstStyle/>
            <a:p>
              <a:pPr algn="l">
                <a:lnSpc>
                  <a:spcPts val="3080"/>
                </a:lnSpc>
              </a:pPr>
              <a:r>
                <a:rPr lang="en-US" sz="2200">
                  <a:solidFill>
                    <a:srgbClr val="D9D9D9"/>
                  </a:solidFill>
                  <a:latin typeface="Raleway"/>
                  <a:ea typeface="Raleway"/>
                  <a:cs typeface="Raleway"/>
                  <a:sym typeface="Raleway"/>
                </a:rPr>
                <a:t>Kịch bản kiểm thử:</a:t>
              </a:r>
            </a:p>
            <a:p>
              <a:pPr marL="474981" lvl="1" indent="-237491" algn="l">
                <a:lnSpc>
                  <a:spcPts val="3080"/>
                </a:lnSpc>
                <a:buFont typeface="Arial"/>
                <a:buChar char="•"/>
              </a:pPr>
              <a:r>
                <a:rPr lang="en-US" sz="2200">
                  <a:solidFill>
                    <a:srgbClr val="D9D9D9"/>
                  </a:solidFill>
                  <a:latin typeface="Raleway"/>
                  <a:ea typeface="Raleway"/>
                  <a:cs typeface="Raleway"/>
                  <a:sym typeface="Raleway"/>
                </a:rPr>
                <a:t>Giả lập MoMo phản hồi "Thành công" tức thì cho cả 2 luồng.</a:t>
              </a:r>
            </a:p>
            <a:p>
              <a:pPr algn="l">
                <a:lnSpc>
                  <a:spcPts val="3080"/>
                </a:lnSpc>
              </a:pPr>
              <a:r>
                <a:rPr lang="en-US" sz="2200">
                  <a:solidFill>
                    <a:srgbClr val="D9D9D9"/>
                  </a:solidFill>
                  <a:latin typeface="Raleway"/>
                  <a:ea typeface="Raleway"/>
                  <a:cs typeface="Raleway"/>
                  <a:sym typeface="Raleway"/>
                </a:rPr>
                <a:t>Kết quả thực tế:</a:t>
              </a:r>
            </a:p>
            <a:p>
              <a:pPr marL="474981" lvl="1" indent="-237491" algn="l">
                <a:lnSpc>
                  <a:spcPts val="3080"/>
                </a:lnSpc>
                <a:buFont typeface="Arial"/>
                <a:buChar char="•"/>
              </a:pPr>
              <a:r>
                <a:rPr lang="en-US" sz="2200">
                  <a:solidFill>
                    <a:srgbClr val="D9D9D9"/>
                  </a:solidFill>
                  <a:latin typeface="Raleway"/>
                  <a:ea typeface="Raleway"/>
                  <a:cs typeface="Raleway"/>
                  <a:sym typeface="Raleway"/>
                </a:rPr>
                <a:t>Hệ thống cập nhật trạng thái PAID (Đã thanh toán) cho cả 2 vé.</a:t>
              </a:r>
            </a:p>
            <a:p>
              <a:pPr marL="474981" lvl="1" indent="-237491" algn="l">
                <a:lnSpc>
                  <a:spcPts val="3080"/>
                </a:lnSpc>
                <a:buFont typeface="Arial"/>
                <a:buChar char="•"/>
              </a:pPr>
              <a:r>
                <a:rPr lang="en-US" sz="2200">
                  <a:solidFill>
                    <a:srgbClr val="D9D9D9"/>
                  </a:solidFill>
                  <a:latin typeface="Raleway"/>
                  <a:ea typeface="Raleway"/>
                  <a:cs typeface="Raleway"/>
                  <a:sym typeface="Raleway"/>
                </a:rPr>
                <a:t>Rủi ro tài chính: Thu tiền của cả 2 khách hàng cho 1 dịch vụ duy nhất -&gt; Phải hoàn tiền và đền bù.</a:t>
              </a:r>
            </a:p>
            <a:p>
              <a:pPr marL="0" lvl="0" indent="0" algn="l">
                <a:lnSpc>
                  <a:spcPts val="3080"/>
                </a:lnSpc>
              </a:pPr>
              <a:endParaRPr lang="en-US" sz="2200">
                <a:solidFill>
                  <a:srgbClr val="D9D9D9"/>
                </a:solidFill>
                <a:latin typeface="Raleway"/>
                <a:ea typeface="Raleway"/>
                <a:cs typeface="Raleway"/>
                <a:sym typeface="Raleway"/>
              </a:endParaRPr>
            </a:p>
          </p:txBody>
        </p:sp>
      </p:grpSp>
      <p:sp>
        <p:nvSpPr>
          <p:cNvPr id="8" name="TextBox 8"/>
          <p:cNvSpPr txBox="1"/>
          <p:nvPr/>
        </p:nvSpPr>
        <p:spPr>
          <a:xfrm>
            <a:off x="17485343" y="9412274"/>
            <a:ext cx="152400" cy="209550"/>
          </a:xfrm>
          <a:prstGeom prst="rect">
            <a:avLst/>
          </a:prstGeom>
        </p:spPr>
        <p:txBody>
          <a:bodyPr wrap="none" lIns="0" tIns="0" rIns="0" bIns="0" rtlCol="0" anchor="t">
            <a:spAutoFit/>
          </a:bodyPr>
          <a:lstStyle/>
          <a:p>
            <a:pPr algn="r">
              <a:lnSpc>
                <a:spcPts val="2800"/>
              </a:lnSpc>
              <a:spcBef>
                <a:spcPct val="0"/>
              </a:spcBef>
            </a:pPr>
            <a:r>
              <a:rPr lang="en-US" sz="2000">
                <a:solidFill>
                  <a:srgbClr val="D9D9D9"/>
                </a:solidFill>
                <a:latin typeface="Raleway"/>
                <a:ea typeface="Raleway"/>
                <a:cs typeface="Raleway"/>
                <a:sym typeface="Raleway"/>
              </a:rPr>
              <a:t>8</a:t>
            </a:r>
          </a:p>
        </p:txBody>
      </p:sp>
      <p:sp>
        <p:nvSpPr>
          <p:cNvPr id="9" name="AutoShape 9"/>
          <p:cNvSpPr/>
          <p:nvPr/>
        </p:nvSpPr>
        <p:spPr>
          <a:xfrm>
            <a:off x="1431704" y="9610725"/>
            <a:ext cx="15624461" cy="0"/>
          </a:xfrm>
          <a:prstGeom prst="line">
            <a:avLst/>
          </a:prstGeom>
          <a:ln w="19050" cap="flat">
            <a:solidFill>
              <a:srgbClr val="8AB8FF"/>
            </a:solidFill>
            <a:prstDash val="solid"/>
            <a:headEnd type="none" w="sm" len="sm"/>
            <a:tailEnd type="none" w="sm" len="sm"/>
          </a:ln>
        </p:spPr>
        <p:txBody>
          <a:bodyPr/>
          <a:lstStyle/>
          <a:p>
            <a:endParaRPr lang="en-US"/>
          </a:p>
        </p:txBody>
      </p:sp>
      <p:sp>
        <p:nvSpPr>
          <p:cNvPr id="10" name="Freeform 10"/>
          <p:cNvSpPr/>
          <p:nvPr/>
        </p:nvSpPr>
        <p:spPr>
          <a:xfrm>
            <a:off x="671512" y="9387884"/>
            <a:ext cx="445682" cy="445682"/>
          </a:xfrm>
          <a:custGeom>
            <a:avLst/>
            <a:gdLst/>
            <a:ahLst/>
            <a:cxnLst/>
            <a:rect l="l" t="t" r="r" b="b"/>
            <a:pathLst>
              <a:path w="445682" h="445682">
                <a:moveTo>
                  <a:pt x="0" y="0"/>
                </a:moveTo>
                <a:lnTo>
                  <a:pt x="445683" y="0"/>
                </a:lnTo>
                <a:lnTo>
                  <a:pt x="445683" y="445682"/>
                </a:lnTo>
                <a:lnTo>
                  <a:pt x="0" y="445682"/>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grpSp>
        <p:nvGrpSpPr>
          <p:cNvPr id="2" name="Group 2"/>
          <p:cNvGrpSpPr/>
          <p:nvPr/>
        </p:nvGrpSpPr>
        <p:grpSpPr>
          <a:xfrm>
            <a:off x="666750" y="666750"/>
            <a:ext cx="5753100" cy="8080381"/>
            <a:chOff x="0" y="0"/>
            <a:chExt cx="891306" cy="1251862"/>
          </a:xfrm>
        </p:grpSpPr>
        <p:sp>
          <p:nvSpPr>
            <p:cNvPr id="3" name="Freeform 3"/>
            <p:cNvSpPr/>
            <p:nvPr/>
          </p:nvSpPr>
          <p:spPr>
            <a:xfrm>
              <a:off x="0" y="0"/>
              <a:ext cx="891306" cy="1251862"/>
            </a:xfrm>
            <a:custGeom>
              <a:avLst/>
              <a:gdLst/>
              <a:ahLst/>
              <a:cxnLst/>
              <a:rect l="l" t="t" r="r" b="b"/>
              <a:pathLst>
                <a:path w="891306" h="1251862">
                  <a:moveTo>
                    <a:pt x="0" y="0"/>
                  </a:moveTo>
                  <a:lnTo>
                    <a:pt x="891306" y="0"/>
                  </a:lnTo>
                  <a:lnTo>
                    <a:pt x="891306" y="1251862"/>
                  </a:lnTo>
                  <a:lnTo>
                    <a:pt x="0" y="1251862"/>
                  </a:lnTo>
                  <a:close/>
                </a:path>
              </a:pathLst>
            </a:custGeom>
            <a:blipFill>
              <a:blip r:embed="rId2"/>
              <a:stretch>
                <a:fillRect t="-316" b="-316"/>
              </a:stretch>
            </a:blipFill>
            <a:ln w="19050" cap="sq">
              <a:solidFill>
                <a:srgbClr val="FFFFFF"/>
              </a:solidFill>
              <a:prstDash val="solid"/>
              <a:miter/>
            </a:ln>
          </p:spPr>
          <p:txBody>
            <a:bodyPr/>
            <a:lstStyle/>
            <a:p>
              <a:endParaRPr lang="en-US"/>
            </a:p>
          </p:txBody>
        </p:sp>
      </p:grpSp>
      <p:grpSp>
        <p:nvGrpSpPr>
          <p:cNvPr id="4" name="Group 4"/>
          <p:cNvGrpSpPr/>
          <p:nvPr/>
        </p:nvGrpSpPr>
        <p:grpSpPr>
          <a:xfrm>
            <a:off x="7858125" y="666750"/>
            <a:ext cx="9763125" cy="6901825"/>
            <a:chOff x="0" y="0"/>
            <a:chExt cx="13017500" cy="9202434"/>
          </a:xfrm>
        </p:grpSpPr>
        <p:sp>
          <p:nvSpPr>
            <p:cNvPr id="5" name="TextBox 5"/>
            <p:cNvSpPr txBox="1"/>
            <p:nvPr/>
          </p:nvSpPr>
          <p:spPr>
            <a:xfrm>
              <a:off x="0" y="76200"/>
              <a:ext cx="13017500" cy="3429000"/>
            </a:xfrm>
            <a:prstGeom prst="rect">
              <a:avLst/>
            </a:prstGeom>
          </p:spPr>
          <p:txBody>
            <a:bodyPr lIns="0" tIns="0" rIns="0" bIns="0" rtlCol="0" anchor="t">
              <a:spAutoFit/>
            </a:bodyPr>
            <a:lstStyle/>
            <a:p>
              <a:pPr marL="0" lvl="0" indent="0" algn="ctr">
                <a:lnSpc>
                  <a:spcPts val="9900"/>
                </a:lnSpc>
              </a:pPr>
              <a:r>
                <a:rPr lang="en-US" sz="9000">
                  <a:solidFill>
                    <a:srgbClr val="4D8AF0"/>
                  </a:solidFill>
                  <a:latin typeface="Raleway"/>
                  <a:ea typeface="Raleway"/>
                  <a:cs typeface="Raleway"/>
                  <a:sym typeface="Raleway"/>
                </a:rPr>
                <a:t>Báo cáo lỗi 3 -Đặt vé chồng chéo</a:t>
              </a:r>
            </a:p>
          </p:txBody>
        </p:sp>
        <p:sp>
          <p:nvSpPr>
            <p:cNvPr id="6" name="TextBox 6"/>
            <p:cNvSpPr txBox="1"/>
            <p:nvPr/>
          </p:nvSpPr>
          <p:spPr>
            <a:xfrm>
              <a:off x="0" y="4022520"/>
              <a:ext cx="13017500" cy="590550"/>
            </a:xfrm>
            <a:prstGeom prst="rect">
              <a:avLst/>
            </a:prstGeom>
          </p:spPr>
          <p:txBody>
            <a:bodyPr lIns="0" tIns="0" rIns="0" bIns="0" rtlCol="0" anchor="t">
              <a:spAutoFit/>
            </a:bodyPr>
            <a:lstStyle/>
            <a:p>
              <a:pPr marL="0" lvl="0" indent="0" algn="l">
                <a:lnSpc>
                  <a:spcPts val="3300"/>
                </a:lnSpc>
              </a:pPr>
              <a:r>
                <a:rPr lang="en-US" sz="3000">
                  <a:solidFill>
                    <a:srgbClr val="8AB8FF"/>
                  </a:solidFill>
                  <a:latin typeface="Raleway"/>
                  <a:ea typeface="Raleway"/>
                  <a:cs typeface="Raleway"/>
                  <a:sym typeface="Raleway"/>
                </a:rPr>
                <a:t>Tên lỗi: Xung đột danh sách ghế (Overlap Booking).</a:t>
              </a:r>
            </a:p>
          </p:txBody>
        </p:sp>
        <p:sp>
          <p:nvSpPr>
            <p:cNvPr id="7" name="TextBox 7"/>
            <p:cNvSpPr txBox="1"/>
            <p:nvPr/>
          </p:nvSpPr>
          <p:spPr>
            <a:xfrm>
              <a:off x="0" y="5063716"/>
              <a:ext cx="13017500" cy="4138718"/>
            </a:xfrm>
            <a:prstGeom prst="rect">
              <a:avLst/>
            </a:prstGeom>
          </p:spPr>
          <p:txBody>
            <a:bodyPr lIns="0" tIns="0" rIns="0" bIns="0" rtlCol="0" anchor="t">
              <a:spAutoFit/>
            </a:bodyPr>
            <a:lstStyle/>
            <a:p>
              <a:pPr algn="l">
                <a:lnSpc>
                  <a:spcPts val="3080"/>
                </a:lnSpc>
              </a:pPr>
              <a:r>
                <a:rPr lang="en-US" sz="2200">
                  <a:solidFill>
                    <a:srgbClr val="D9D9D9"/>
                  </a:solidFill>
                  <a:latin typeface="Raleway"/>
                  <a:ea typeface="Raleway"/>
                  <a:cs typeface="Raleway"/>
                  <a:sym typeface="Raleway"/>
                </a:rPr>
                <a:t>Mô tả kịch bản:</a:t>
              </a:r>
            </a:p>
            <a:p>
              <a:pPr marL="474981" lvl="1" indent="-237491" algn="l">
                <a:lnSpc>
                  <a:spcPts val="3080"/>
                </a:lnSpc>
                <a:buFont typeface="Arial"/>
                <a:buChar char="•"/>
              </a:pPr>
              <a:r>
                <a:rPr lang="en-US" sz="2200">
                  <a:solidFill>
                    <a:srgbClr val="D9D9D9"/>
                  </a:solidFill>
                  <a:latin typeface="Raleway"/>
                  <a:ea typeface="Raleway"/>
                  <a:cs typeface="Raleway"/>
                  <a:sym typeface="Raleway"/>
                </a:rPr>
                <a:t>User A đặt: [Ghế A01, Ghế A02].</a:t>
              </a:r>
            </a:p>
            <a:p>
              <a:pPr marL="474981" lvl="1" indent="-237491" algn="l">
                <a:lnSpc>
                  <a:spcPts val="3080"/>
                </a:lnSpc>
                <a:buFont typeface="Arial"/>
                <a:buChar char="•"/>
              </a:pPr>
              <a:r>
                <a:rPr lang="en-US" sz="2200">
                  <a:solidFill>
                    <a:srgbClr val="D9D9D9"/>
                  </a:solidFill>
                  <a:latin typeface="Raleway"/>
                  <a:ea typeface="Raleway"/>
                  <a:cs typeface="Raleway"/>
                  <a:sym typeface="Raleway"/>
                </a:rPr>
                <a:t>User B đặt: [Ghế A02, Ghế A03] (Trùng ghế A02).</a:t>
              </a:r>
            </a:p>
            <a:p>
              <a:pPr marL="474981" lvl="1" indent="-237491" algn="l">
                <a:lnSpc>
                  <a:spcPts val="3080"/>
                </a:lnSpc>
                <a:buFont typeface="Arial"/>
                <a:buChar char="•"/>
              </a:pPr>
              <a:r>
                <a:rPr lang="en-US" sz="2200">
                  <a:solidFill>
                    <a:srgbClr val="D9D9D9"/>
                  </a:solidFill>
                  <a:latin typeface="Raleway"/>
                  <a:ea typeface="Raleway"/>
                  <a:cs typeface="Raleway"/>
                  <a:sym typeface="Raleway"/>
                </a:rPr>
                <a:t>Hai người bấm đặt cùng lúc.</a:t>
              </a:r>
            </a:p>
            <a:p>
              <a:pPr algn="l">
                <a:lnSpc>
                  <a:spcPts val="3080"/>
                </a:lnSpc>
              </a:pPr>
              <a:r>
                <a:rPr lang="en-US" sz="2200">
                  <a:solidFill>
                    <a:srgbClr val="D9D9D9"/>
                  </a:solidFill>
                  <a:latin typeface="Raleway"/>
                  <a:ea typeface="Raleway"/>
                  <a:cs typeface="Raleway"/>
                  <a:sym typeface="Raleway"/>
                </a:rPr>
                <a:t>Kết quả thực tế:</a:t>
              </a:r>
            </a:p>
            <a:p>
              <a:pPr marL="474981" lvl="1" indent="-237491" algn="l">
                <a:lnSpc>
                  <a:spcPts val="3080"/>
                </a:lnSpc>
                <a:buFont typeface="Arial"/>
                <a:buChar char="•"/>
              </a:pPr>
              <a:r>
                <a:rPr lang="en-US" sz="2200">
                  <a:solidFill>
                    <a:srgbClr val="D9D9D9"/>
                  </a:solidFill>
                  <a:latin typeface="Raleway"/>
                  <a:ea typeface="Raleway"/>
                  <a:cs typeface="Raleway"/>
                  <a:sym typeface="Raleway"/>
                </a:rPr>
                <a:t>Hệ thống cho phép cả 2 giao dịch thành công.</a:t>
              </a:r>
            </a:p>
            <a:p>
              <a:pPr marL="474981" lvl="1" indent="-237491" algn="l">
                <a:lnSpc>
                  <a:spcPts val="3080"/>
                </a:lnSpc>
                <a:buFont typeface="Arial"/>
                <a:buChar char="•"/>
              </a:pPr>
              <a:r>
                <a:rPr lang="en-US" sz="2200">
                  <a:solidFill>
                    <a:srgbClr val="D9D9D9"/>
                  </a:solidFill>
                  <a:latin typeface="Raleway"/>
                  <a:ea typeface="Raleway"/>
                  <a:cs typeface="Raleway"/>
                  <a:sym typeface="Raleway"/>
                </a:rPr>
                <a:t>Ghế A02 bị bán cho cả 2 người.</a:t>
              </a:r>
            </a:p>
            <a:p>
              <a:pPr marL="0" lvl="0" indent="0" algn="l">
                <a:lnSpc>
                  <a:spcPts val="3080"/>
                </a:lnSpc>
              </a:pPr>
              <a:endParaRPr lang="en-US" sz="2200">
                <a:solidFill>
                  <a:srgbClr val="D9D9D9"/>
                </a:solidFill>
                <a:latin typeface="Raleway"/>
                <a:ea typeface="Raleway"/>
                <a:cs typeface="Raleway"/>
                <a:sym typeface="Raleway"/>
              </a:endParaRPr>
            </a:p>
          </p:txBody>
        </p:sp>
      </p:grpSp>
      <p:sp>
        <p:nvSpPr>
          <p:cNvPr id="8" name="TextBox 8"/>
          <p:cNvSpPr txBox="1"/>
          <p:nvPr/>
        </p:nvSpPr>
        <p:spPr>
          <a:xfrm>
            <a:off x="17485343" y="9412274"/>
            <a:ext cx="152400" cy="209550"/>
          </a:xfrm>
          <a:prstGeom prst="rect">
            <a:avLst/>
          </a:prstGeom>
        </p:spPr>
        <p:txBody>
          <a:bodyPr wrap="none" lIns="0" tIns="0" rIns="0" bIns="0" rtlCol="0" anchor="t">
            <a:spAutoFit/>
          </a:bodyPr>
          <a:lstStyle/>
          <a:p>
            <a:pPr algn="r">
              <a:lnSpc>
                <a:spcPts val="2800"/>
              </a:lnSpc>
              <a:spcBef>
                <a:spcPct val="0"/>
              </a:spcBef>
            </a:pPr>
            <a:r>
              <a:rPr lang="en-US" sz="2000">
                <a:solidFill>
                  <a:srgbClr val="D9D9D9"/>
                </a:solidFill>
                <a:latin typeface="Raleway"/>
                <a:ea typeface="Raleway"/>
                <a:cs typeface="Raleway"/>
                <a:sym typeface="Raleway"/>
              </a:rPr>
              <a:t>9</a:t>
            </a:r>
          </a:p>
        </p:txBody>
      </p:sp>
      <p:sp>
        <p:nvSpPr>
          <p:cNvPr id="9" name="AutoShape 9"/>
          <p:cNvSpPr/>
          <p:nvPr/>
        </p:nvSpPr>
        <p:spPr>
          <a:xfrm>
            <a:off x="1431704" y="9610725"/>
            <a:ext cx="15624461" cy="0"/>
          </a:xfrm>
          <a:prstGeom prst="line">
            <a:avLst/>
          </a:prstGeom>
          <a:ln w="19050" cap="flat">
            <a:solidFill>
              <a:srgbClr val="8AB8FF"/>
            </a:solidFill>
            <a:prstDash val="solid"/>
            <a:headEnd type="none" w="sm" len="sm"/>
            <a:tailEnd type="none" w="sm" len="sm"/>
          </a:ln>
        </p:spPr>
        <p:txBody>
          <a:bodyPr/>
          <a:lstStyle/>
          <a:p>
            <a:endParaRPr lang="en-US"/>
          </a:p>
        </p:txBody>
      </p:sp>
      <p:sp>
        <p:nvSpPr>
          <p:cNvPr id="10" name="Freeform 10"/>
          <p:cNvSpPr/>
          <p:nvPr/>
        </p:nvSpPr>
        <p:spPr>
          <a:xfrm>
            <a:off x="671512" y="9387884"/>
            <a:ext cx="445682" cy="445682"/>
          </a:xfrm>
          <a:custGeom>
            <a:avLst/>
            <a:gdLst/>
            <a:ahLst/>
            <a:cxnLst/>
            <a:rect l="l" t="t" r="r" b="b"/>
            <a:pathLst>
              <a:path w="445682" h="445682">
                <a:moveTo>
                  <a:pt x="0" y="0"/>
                </a:moveTo>
                <a:lnTo>
                  <a:pt x="445683" y="0"/>
                </a:lnTo>
                <a:lnTo>
                  <a:pt x="445683" y="445682"/>
                </a:lnTo>
                <a:lnTo>
                  <a:pt x="0" y="445682"/>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2"/>
          <p:cNvSpPr txBox="1"/>
          <p:nvPr/>
        </p:nvSpPr>
        <p:spPr>
          <a:xfrm>
            <a:off x="17485343" y="9412274"/>
            <a:ext cx="152400" cy="209550"/>
          </a:xfrm>
          <a:prstGeom prst="rect">
            <a:avLst/>
          </a:prstGeom>
        </p:spPr>
        <p:txBody>
          <a:bodyPr wrap="none" lIns="0" tIns="0" rIns="0" bIns="0" rtlCol="0" anchor="t">
            <a:spAutoFit/>
          </a:bodyPr>
          <a:lstStyle/>
          <a:p>
            <a:pPr algn="r">
              <a:lnSpc>
                <a:spcPts val="2800"/>
              </a:lnSpc>
              <a:spcBef>
                <a:spcPct val="0"/>
              </a:spcBef>
            </a:pPr>
            <a:r>
              <a:rPr lang="en-US" sz="2000">
                <a:solidFill>
                  <a:srgbClr val="D9D9D9"/>
                </a:solidFill>
                <a:latin typeface="Raleway"/>
                <a:ea typeface="Raleway"/>
                <a:cs typeface="Raleway"/>
                <a:sym typeface="Raleway"/>
              </a:rPr>
              <a:t>10</a:t>
            </a:r>
          </a:p>
        </p:txBody>
      </p:sp>
      <p:sp>
        <p:nvSpPr>
          <p:cNvPr id="3" name="AutoShape 3"/>
          <p:cNvSpPr/>
          <p:nvPr/>
        </p:nvSpPr>
        <p:spPr>
          <a:xfrm>
            <a:off x="1431704" y="9610725"/>
            <a:ext cx="15624461" cy="0"/>
          </a:xfrm>
          <a:prstGeom prst="line">
            <a:avLst/>
          </a:prstGeom>
          <a:ln w="19050" cap="flat">
            <a:solidFill>
              <a:srgbClr val="8AB8FF"/>
            </a:solidFill>
            <a:prstDash val="solid"/>
            <a:headEnd type="none" w="sm" len="sm"/>
            <a:tailEnd type="none" w="sm" len="sm"/>
          </a:ln>
        </p:spPr>
        <p:txBody>
          <a:bodyPr/>
          <a:lstStyle/>
          <a:p>
            <a:endParaRPr lang="en-US"/>
          </a:p>
        </p:txBody>
      </p:sp>
      <p:sp>
        <p:nvSpPr>
          <p:cNvPr id="4" name="Freeform 4"/>
          <p:cNvSpPr/>
          <p:nvPr/>
        </p:nvSpPr>
        <p:spPr>
          <a:xfrm>
            <a:off x="671512" y="9387884"/>
            <a:ext cx="445682" cy="445682"/>
          </a:xfrm>
          <a:custGeom>
            <a:avLst/>
            <a:gdLst/>
            <a:ahLst/>
            <a:cxnLst/>
            <a:rect l="l" t="t" r="r" b="b"/>
            <a:pathLst>
              <a:path w="445682" h="445682">
                <a:moveTo>
                  <a:pt x="0" y="0"/>
                </a:moveTo>
                <a:lnTo>
                  <a:pt x="445683" y="0"/>
                </a:lnTo>
                <a:lnTo>
                  <a:pt x="445683" y="445682"/>
                </a:lnTo>
                <a:lnTo>
                  <a:pt x="0" y="44568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5" name="Group 5"/>
          <p:cNvGrpSpPr/>
          <p:nvPr/>
        </p:nvGrpSpPr>
        <p:grpSpPr>
          <a:xfrm>
            <a:off x="671512" y="666750"/>
            <a:ext cx="13208441" cy="2247900"/>
            <a:chOff x="0" y="0"/>
            <a:chExt cx="17611255" cy="2997200"/>
          </a:xfrm>
        </p:grpSpPr>
        <p:sp>
          <p:nvSpPr>
            <p:cNvPr id="6" name="TextBox 6"/>
            <p:cNvSpPr txBox="1"/>
            <p:nvPr/>
          </p:nvSpPr>
          <p:spPr>
            <a:xfrm>
              <a:off x="0" y="76200"/>
              <a:ext cx="17611255" cy="1752600"/>
            </a:xfrm>
            <a:prstGeom prst="rect">
              <a:avLst/>
            </a:prstGeom>
          </p:spPr>
          <p:txBody>
            <a:bodyPr lIns="0" tIns="0" rIns="0" bIns="0" rtlCol="0" anchor="t">
              <a:spAutoFit/>
            </a:bodyPr>
            <a:lstStyle/>
            <a:p>
              <a:pPr marL="0" lvl="0" indent="0" algn="l">
                <a:lnSpc>
                  <a:spcPts val="9900"/>
                </a:lnSpc>
              </a:pPr>
              <a:r>
                <a:rPr lang="en-US" sz="9000">
                  <a:solidFill>
                    <a:srgbClr val="8AB8FF"/>
                  </a:solidFill>
                  <a:latin typeface="Raleway"/>
                  <a:ea typeface="Raleway"/>
                  <a:cs typeface="Raleway"/>
                  <a:sym typeface="Raleway"/>
                </a:rPr>
                <a:t>Demo</a:t>
              </a:r>
            </a:p>
          </p:txBody>
        </p:sp>
        <p:sp>
          <p:nvSpPr>
            <p:cNvPr id="7" name="TextBox 7"/>
            <p:cNvSpPr txBox="1"/>
            <p:nvPr/>
          </p:nvSpPr>
          <p:spPr>
            <a:xfrm>
              <a:off x="0" y="2320925"/>
              <a:ext cx="17611255" cy="676275"/>
            </a:xfrm>
            <a:prstGeom prst="rect">
              <a:avLst/>
            </a:prstGeom>
          </p:spPr>
          <p:txBody>
            <a:bodyPr lIns="0" tIns="0" rIns="0" bIns="0" rtlCol="0" anchor="t">
              <a:spAutoFit/>
            </a:bodyPr>
            <a:lstStyle/>
            <a:p>
              <a:pPr marL="0" lvl="0" indent="0" algn="l">
                <a:lnSpc>
                  <a:spcPts val="4200"/>
                </a:lnSpc>
              </a:pPr>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2A2A2A"/>
        </a:solidFill>
        <a:effectLst/>
      </p:bgPr>
    </p:bg>
    <p:spTree>
      <p:nvGrpSpPr>
        <p:cNvPr id="1" name=""/>
        <p:cNvGrpSpPr/>
        <p:nvPr/>
      </p:nvGrpSpPr>
      <p:grpSpPr>
        <a:xfrm>
          <a:off x="0" y="0"/>
          <a:ext cx="0" cy="0"/>
          <a:chOff x="0" y="0"/>
          <a:chExt cx="0" cy="0"/>
        </a:xfrm>
      </p:grpSpPr>
      <p:sp>
        <p:nvSpPr>
          <p:cNvPr id="2" name="TextBox 2"/>
          <p:cNvSpPr txBox="1"/>
          <p:nvPr/>
        </p:nvSpPr>
        <p:spPr>
          <a:xfrm>
            <a:off x="1836226" y="741829"/>
            <a:ext cx="7191375" cy="1295400"/>
          </a:xfrm>
          <a:prstGeom prst="rect">
            <a:avLst/>
          </a:prstGeom>
        </p:spPr>
        <p:txBody>
          <a:bodyPr lIns="0" tIns="0" rIns="0" bIns="0" rtlCol="0" anchor="t">
            <a:spAutoFit/>
          </a:bodyPr>
          <a:lstStyle/>
          <a:p>
            <a:pPr marL="0" lvl="0" indent="0" algn="l">
              <a:lnSpc>
                <a:spcPts val="9900"/>
              </a:lnSpc>
            </a:pPr>
            <a:r>
              <a:rPr lang="en-US" sz="9000" u="none" strike="noStrike">
                <a:solidFill>
                  <a:srgbClr val="4D8AF0"/>
                </a:solidFill>
                <a:latin typeface="Raleway"/>
                <a:ea typeface="Raleway"/>
                <a:cs typeface="Raleway"/>
                <a:sym typeface="Raleway"/>
              </a:rPr>
              <a:t>Kết luận</a:t>
            </a:r>
          </a:p>
        </p:txBody>
      </p:sp>
      <p:grpSp>
        <p:nvGrpSpPr>
          <p:cNvPr id="3" name="Group 3"/>
          <p:cNvGrpSpPr/>
          <p:nvPr/>
        </p:nvGrpSpPr>
        <p:grpSpPr>
          <a:xfrm>
            <a:off x="1836226" y="2514510"/>
            <a:ext cx="8806427" cy="4369665"/>
            <a:chOff x="0" y="0"/>
            <a:chExt cx="11741903" cy="5826220"/>
          </a:xfrm>
        </p:grpSpPr>
        <p:sp>
          <p:nvSpPr>
            <p:cNvPr id="4" name="TextBox 4"/>
            <p:cNvSpPr txBox="1"/>
            <p:nvPr/>
          </p:nvSpPr>
          <p:spPr>
            <a:xfrm>
              <a:off x="0" y="-57150"/>
              <a:ext cx="11524719" cy="507946"/>
            </a:xfrm>
            <a:prstGeom prst="rect">
              <a:avLst/>
            </a:prstGeom>
          </p:spPr>
          <p:txBody>
            <a:bodyPr lIns="0" tIns="0" rIns="0" bIns="0" rtlCol="0" anchor="t">
              <a:spAutoFit/>
            </a:bodyPr>
            <a:lstStyle/>
            <a:p>
              <a:pPr marL="0" lvl="0" indent="0" algn="just">
                <a:lnSpc>
                  <a:spcPts val="3108"/>
                </a:lnSpc>
              </a:pPr>
              <a:endParaRPr/>
            </a:p>
          </p:txBody>
        </p:sp>
        <p:sp>
          <p:nvSpPr>
            <p:cNvPr id="5" name="TextBox 5"/>
            <p:cNvSpPr txBox="1"/>
            <p:nvPr/>
          </p:nvSpPr>
          <p:spPr>
            <a:xfrm>
              <a:off x="0" y="-68186"/>
              <a:ext cx="11741903" cy="5894405"/>
            </a:xfrm>
            <a:prstGeom prst="rect">
              <a:avLst/>
            </a:prstGeom>
          </p:spPr>
          <p:txBody>
            <a:bodyPr lIns="0" tIns="0" rIns="0" bIns="0" rtlCol="0" anchor="t">
              <a:spAutoFit/>
            </a:bodyPr>
            <a:lstStyle/>
            <a:p>
              <a:pPr marL="0" lvl="0" indent="0" algn="just">
                <a:lnSpc>
                  <a:spcPts val="5890"/>
                </a:lnSpc>
              </a:pPr>
              <a:r>
                <a:rPr lang="en-US" sz="4207">
                  <a:solidFill>
                    <a:srgbClr val="FEFEFE"/>
                  </a:solidFill>
                  <a:latin typeface="Raleway"/>
                  <a:ea typeface="Raleway"/>
                  <a:cs typeface="Raleway"/>
                  <a:sym typeface="Raleway"/>
                </a:rPr>
                <a:t>Kết quả kiểm thử bằng JUnit đã chỉ ra hệ thống đang tồn tại lỗi nghiêm trọng. Vấn đề này cần được khắc phục triệt để nhằm đảm bảo đáp ứng các yêu cầu về độ an toàn trước khi triển khai.</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121</TotalTime>
  <Words>740</Words>
  <Application>Microsoft Office PowerPoint</Application>
  <PresentationFormat>Custom</PresentationFormat>
  <Paragraphs>82</Paragraphs>
  <Slides>11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Raleway Bold</vt:lpstr>
      <vt:lpstr>Noto Sans Bold</vt:lpstr>
      <vt:lpstr>Raleway</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thuyết trình - Kiểm Thử Phần Mềm</dc:title>
  <dc:description>Bài thuyết trình - Kiểm Thử Phần Mềm</dc:description>
  <cp:lastModifiedBy>Nguyen Quoc Khanh</cp:lastModifiedBy>
  <cp:revision>3</cp:revision>
  <dcterms:created xsi:type="dcterms:W3CDTF">2006-08-16T00:00:00Z</dcterms:created>
  <dcterms:modified xsi:type="dcterms:W3CDTF">2026-02-03T07:50:50Z</dcterms:modified>
  <dc:identifier>DAHALGBnAfE</dc:identifier>
</cp:coreProperties>
</file>