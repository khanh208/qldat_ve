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8" r:id="rId10"/>
    <p:sldId id="263" r:id="rId11"/>
    <p:sldId id="264" r:id="rId12"/>
    <p:sldId id="265" r:id="rId13"/>
    <p:sldId id="266" r:id="rId14"/>
  </p:sldIdLst>
  <p:sldSz cx="18288000" cy="10287000"/>
  <p:notesSz cx="6858000" cy="9144000"/>
  <p:embeddedFontLst>
    <p:embeddedFont>
      <p:font typeface="Raleway" pitchFamily="2" charset="0"/>
      <p:regular r:id="rId15"/>
      <p:bold r:id="rId16"/>
      <p:italic r:id="rId17"/>
      <p:boldItalic r:id="rId18"/>
    </p:embeddedFont>
    <p:embeddedFont>
      <p:font typeface="Raleway Bold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55111" y="1028700"/>
            <a:ext cx="8966139" cy="4403556"/>
            <a:chOff x="0" y="0"/>
            <a:chExt cx="11954851" cy="5871409"/>
          </a:xfrm>
        </p:grpSpPr>
        <p:sp>
          <p:nvSpPr>
            <p:cNvPr id="3" name="TextBox 3"/>
            <p:cNvSpPr txBox="1"/>
            <p:nvPr/>
          </p:nvSpPr>
          <p:spPr>
            <a:xfrm>
              <a:off x="0" y="219075"/>
              <a:ext cx="11954851" cy="4111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1632"/>
                </a:lnSpc>
              </a:pPr>
              <a:r>
                <a:rPr lang="en-US" sz="11632" b="1">
                  <a:solidFill>
                    <a:srgbClr val="4D8AF0"/>
                  </a:solidFill>
                  <a:latin typeface="Times New Roman" panose="02020603050405020304" pitchFamily="18" charset="0"/>
                  <a:ea typeface="Raleway Bold"/>
                  <a:cs typeface="Times New Roman" panose="02020603050405020304" pitchFamily="18" charset="0"/>
                  <a:sym typeface="Raleway Bold"/>
                </a:rPr>
                <a:t>KIỂM THỬ PHẦN MỀM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380635"/>
              <a:ext cx="11954851" cy="1490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23"/>
                </a:lnSpc>
              </a:pPr>
              <a:r>
                <a:rPr lang="en-US" sz="3231">
                  <a:solidFill>
                    <a:srgbClr val="8AB8FF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Đặt tả hệ thống đặt vé: chứng minh “không bán quá số ghế” (safety) + không kẹt (liveness)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1036915" cy="12909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6915" cy="1290994"/>
            </a:xfrm>
            <a:custGeom>
              <a:avLst/>
              <a:gdLst/>
              <a:ahLst/>
              <a:cxnLst/>
              <a:rect l="l" t="t" r="r" b="b"/>
              <a:pathLst>
                <a:path w="1036915" h="1290994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655111" y="6458356"/>
            <a:ext cx="8966139" cy="113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3231" dirty="0" err="1">
                <a:solidFill>
                  <a:srgbClr val="8AB8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Tên</a:t>
            </a:r>
            <a:r>
              <a:rPr lang="en-US" sz="3231" dirty="0">
                <a:solidFill>
                  <a:srgbClr val="8AB8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: Nguyễn Quốc Khánh</a:t>
            </a:r>
          </a:p>
          <a:p>
            <a:pPr marL="0" lvl="0" indent="0" algn="l">
              <a:lnSpc>
                <a:spcPts val="4523"/>
              </a:lnSpc>
            </a:pPr>
            <a:r>
              <a:rPr lang="en-US" sz="3231" dirty="0">
                <a:solidFill>
                  <a:srgbClr val="8AB8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MSSV: 115080057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9299335"/>
            <a:ext cx="8966139" cy="48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103"/>
              </a:lnSpc>
            </a:pPr>
            <a:r>
              <a:rPr lang="en-US" sz="2931">
                <a:solidFill>
                  <a:srgbClr val="8AB8FF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GVHD: ThS. Phạm Trọng Huynh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8163" y="502098"/>
            <a:ext cx="6191675" cy="1491020"/>
            <a:chOff x="0" y="142875"/>
            <a:chExt cx="8255566" cy="1988026"/>
          </a:xfrm>
        </p:grpSpPr>
        <p:sp>
          <p:nvSpPr>
            <p:cNvPr id="3" name="TextBox 3"/>
            <p:cNvSpPr txBox="1"/>
            <p:nvPr/>
          </p:nvSpPr>
          <p:spPr>
            <a:xfrm>
              <a:off x="0" y="142875"/>
              <a:ext cx="8255566" cy="1367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032"/>
                </a:lnSpc>
              </a:pPr>
              <a:r>
                <a:rPr lang="en-US" sz="8032" b="1">
                  <a:solidFill>
                    <a:srgbClr val="4D8AF0"/>
                  </a:solidFill>
                  <a:latin typeface="Times New Roman" panose="02020603050405020304" pitchFamily="18" charset="0"/>
                  <a:ea typeface="Raleway Bold"/>
                  <a:cs typeface="Times New Roman" panose="02020603050405020304" pitchFamily="18" charset="0"/>
                  <a:sym typeface="Raleway Bold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661200"/>
              <a:ext cx="8255566" cy="469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3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49804" y="2353441"/>
            <a:ext cx="10668000" cy="74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Times New Roman" panose="02020603050405020304" pitchFamily="18" charset="0"/>
                <a:ea typeface="Noto Sans Bold"/>
                <a:cs typeface="Times New Roman" panose="02020603050405020304" pitchFamily="18" charset="0"/>
                <a:sym typeface="Noto Sans Bold"/>
              </a:rPr>
              <a:t>I. GIỚI THIỆU ĐỀ TÀI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49804" y="3592251"/>
            <a:ext cx="10952727" cy="74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Times New Roman" panose="02020603050405020304" pitchFamily="18" charset="0"/>
                <a:ea typeface="Noto Sans Bold"/>
                <a:cs typeface="Times New Roman" panose="02020603050405020304" pitchFamily="18" charset="0"/>
                <a:sym typeface="Noto Sans Bold"/>
              </a:rPr>
              <a:t>II. TỔNG QUAN HỆ THỐNG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95608" y="4831061"/>
            <a:ext cx="5811560" cy="74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Times New Roman" panose="02020603050405020304" pitchFamily="18" charset="0"/>
                <a:ea typeface="Noto Sans Bold"/>
                <a:cs typeface="Times New Roman" panose="02020603050405020304" pitchFamily="18" charset="0"/>
                <a:sym typeface="Noto Sans Bold"/>
              </a:rPr>
              <a:t>III. </a:t>
            </a:r>
            <a:r>
              <a:rPr lang="en-US" sz="4500" b="1">
                <a:solidFill>
                  <a:srgbClr val="FFFFFF"/>
                </a:solidFill>
                <a:latin typeface="Times New Roman" panose="02020603050405020304" pitchFamily="18" charset="0"/>
                <a:ea typeface="Noto Sans Bold"/>
                <a:cs typeface="Times New Roman" panose="02020603050405020304" pitchFamily="18" charset="0"/>
                <a:sym typeface="Noto Sans Bold"/>
              </a:rPr>
              <a:t>TEST CASE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49804" y="6069310"/>
            <a:ext cx="2776657" cy="74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Times New Roman" panose="02020603050405020304" pitchFamily="18" charset="0"/>
                <a:ea typeface="Noto Sans Bold"/>
                <a:cs typeface="Times New Roman" panose="02020603050405020304" pitchFamily="18" charset="0"/>
                <a:sym typeface="Noto Sans Bold"/>
              </a:rPr>
              <a:t>IV. DEMO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76400" y="7307560"/>
            <a:ext cx="4114800" cy="741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rgbClr val="FFFFFF"/>
                </a:solidFill>
                <a:latin typeface="Times New Roman" panose="02020603050405020304" pitchFamily="18" charset="0"/>
                <a:ea typeface="Noto Sans Bold"/>
                <a:cs typeface="Times New Roman" panose="02020603050405020304" pitchFamily="18" charset="0"/>
                <a:sym typeface="Noto Sans Bold"/>
              </a:rPr>
              <a:t>V. KẾT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8AB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666750" y="723900"/>
            <a:ext cx="13434895" cy="5454722"/>
            <a:chOff x="0" y="76200"/>
            <a:chExt cx="17913193" cy="7272963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>
                  <a:solidFill>
                    <a:srgbClr val="8AB8FF"/>
                  </a:solidFill>
                  <a:latin typeface="Times New Roman" panose="02020603050405020304" pitchFamily="18" charset="0"/>
                  <a:ea typeface="Raleway Bold"/>
                  <a:cs typeface="Times New Roman" panose="02020603050405020304" pitchFamily="18" charset="0"/>
                  <a:sym typeface="Raleway Bold"/>
                </a:rPr>
                <a:t>Giới thiệu đề tài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8AB8FF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Đối tượng kiểm thử: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01939" y="3239999"/>
              <a:ext cx="17611254" cy="1487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2860"/>
                </a:lnSpc>
                <a:buFont typeface="Arial"/>
                <a:buChar char="•"/>
              </a:pP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Tập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trung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vào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Backend Service: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BookingService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474981" lvl="1" indent="-237491" algn="l">
                <a:lnSpc>
                  <a:spcPts val="2860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Các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chức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năng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Đặt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vé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,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Kiểm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tra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ghế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trống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, Thanh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toán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0" lvl="0" indent="0" algn="l">
                <a:lnSpc>
                  <a:spcPts val="2860"/>
                </a:lnSpc>
              </a:pPr>
              <a:endParaRPr lang="en-US" sz="2600" dirty="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612446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8AB8FF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Mục tiêu kiểm thử: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1939" y="4955346"/>
              <a:ext cx="17110226" cy="2393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8"/>
                </a:lnSpc>
              </a:pPr>
              <a:endParaRPr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61468" lvl="1" indent="-230734" algn="l">
                <a:lnSpc>
                  <a:spcPts val="2778"/>
                </a:lnSpc>
                <a:buFont typeface="Arial"/>
                <a:buChar char="•"/>
              </a:pP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Đảm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bảo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logic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nghiệp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vụ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chạy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đúng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(Functional).</a:t>
              </a:r>
            </a:p>
            <a:p>
              <a:pPr marL="461468" lvl="1" indent="-230734" algn="l">
                <a:lnSpc>
                  <a:spcPts val="2778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Quan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trọng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Phát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hiện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lỗi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tranh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chấp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tài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nguyên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(Race Condition)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khi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có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nhiều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người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đặt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cùng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lúc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0" lvl="0" indent="0" algn="l">
                <a:lnSpc>
                  <a:spcPts val="2778"/>
                </a:lnSpc>
              </a:pPr>
              <a:endParaRPr lang="en-US" sz="2600" dirty="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509503" y="9412274"/>
            <a:ext cx="128240" cy="32938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8AB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6285819" cy="2946478"/>
          </a:xfrm>
          <a:custGeom>
            <a:avLst/>
            <a:gdLst/>
            <a:ahLst/>
            <a:cxnLst/>
            <a:rect l="l" t="t" r="r" b="b"/>
            <a:pathLst>
              <a:path w="6285819" h="2946478">
                <a:moveTo>
                  <a:pt x="0" y="0"/>
                </a:moveTo>
                <a:lnTo>
                  <a:pt x="6285819" y="0"/>
                </a:lnTo>
                <a:lnTo>
                  <a:pt x="6285819" y="2946478"/>
                </a:lnTo>
                <a:lnTo>
                  <a:pt x="0" y="2946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28700" y="3975178"/>
            <a:ext cx="6285819" cy="3032908"/>
          </a:xfrm>
          <a:custGeom>
            <a:avLst/>
            <a:gdLst/>
            <a:ahLst/>
            <a:cxnLst/>
            <a:rect l="l" t="t" r="r" b="b"/>
            <a:pathLst>
              <a:path w="6285819" h="3032908">
                <a:moveTo>
                  <a:pt x="0" y="0"/>
                </a:moveTo>
                <a:lnTo>
                  <a:pt x="6285819" y="0"/>
                </a:lnTo>
                <a:lnTo>
                  <a:pt x="6285819" y="3032908"/>
                </a:lnTo>
                <a:lnTo>
                  <a:pt x="0" y="30329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7858125" y="723900"/>
            <a:ext cx="9763125" cy="5661168"/>
            <a:chOff x="0" y="76200"/>
            <a:chExt cx="13017500" cy="7548224"/>
          </a:xfrm>
        </p:grpSpPr>
        <p:sp>
          <p:nvSpPr>
            <p:cNvPr id="7" name="TextBox 7"/>
            <p:cNvSpPr txBox="1"/>
            <p:nvPr/>
          </p:nvSpPr>
          <p:spPr>
            <a:xfrm>
              <a:off x="0" y="76200"/>
              <a:ext cx="13017500" cy="1692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4D8AF0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Tổng quan hệ thống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93700" y="2853887"/>
              <a:ext cx="10756900" cy="47705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Website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đặt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vé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xe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khách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trực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tuyến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algn="just">
                <a:lnSpc>
                  <a:spcPts val="3080"/>
                </a:lnSpc>
              </a:pP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Các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chức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năng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chính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Tìm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kiếm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chuyến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xe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theo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tuyến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,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ngày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giờ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).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Chọn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ghế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ngồi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Đặt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vé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&amp; Thanh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toán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Tiền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mặt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/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Ví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MoMo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).</a:t>
              </a:r>
            </a:p>
            <a:p>
              <a:pPr algn="just">
                <a:lnSpc>
                  <a:spcPts val="3080"/>
                </a:lnSpc>
              </a:pP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Công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nghệ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sử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dụng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Backend: Java Spring Boot.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Database: </a:t>
              </a:r>
              <a:r>
                <a:rPr lang="en-US" sz="26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PostgreSql</a:t>
              </a:r>
              <a:r>
                <a:rPr lang="en-US" sz="26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0" lvl="0" indent="0" algn="just">
                <a:lnSpc>
                  <a:spcPts val="3080"/>
                </a:lnSpc>
              </a:pPr>
              <a:endParaRPr lang="en-US" sz="2600" dirty="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509503" y="9412274"/>
            <a:ext cx="128240" cy="32938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 dirty="0" err="1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Thiết</a:t>
            </a:r>
            <a:r>
              <a:rPr lang="en-US" sz="9000" dirty="0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9000" dirty="0" err="1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kế</a:t>
            </a:r>
            <a:r>
              <a:rPr lang="en-US" sz="9000" dirty="0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 ca </a:t>
            </a:r>
            <a:r>
              <a:rPr lang="en-US" sz="9000" dirty="0" err="1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kiểm</a:t>
            </a:r>
            <a:r>
              <a:rPr lang="en-US" sz="9000" dirty="0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9000" dirty="0" err="1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thử</a:t>
            </a:r>
            <a:r>
              <a:rPr lang="en-US" sz="9000" dirty="0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38920" y="2068868"/>
            <a:ext cx="5448300" cy="1251144"/>
            <a:chOff x="0" y="19050"/>
            <a:chExt cx="7264400" cy="1668192"/>
          </a:xfrm>
        </p:grpSpPr>
        <p:sp>
          <p:nvSpPr>
            <p:cNvPr id="4" name="TextBox 4"/>
            <p:cNvSpPr txBox="1"/>
            <p:nvPr/>
          </p:nvSpPr>
          <p:spPr>
            <a:xfrm>
              <a:off x="0" y="19050"/>
              <a:ext cx="72644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dirty="0" err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Hộp</a:t>
              </a:r>
              <a:r>
                <a:rPr lang="en-US" sz="3000" b="1" dirty="0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</a:t>
              </a:r>
              <a:r>
                <a:rPr lang="en-US" sz="3000" b="1" dirty="0" err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đen</a:t>
              </a:r>
              <a:endParaRPr lang="en-US" sz="3000" b="1" dirty="0">
                <a:solidFill>
                  <a:srgbClr val="8AB8FF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71409"/>
              <a:ext cx="7264400" cy="1015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Phân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vùng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tương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đương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Phân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tích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giá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trị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biên</a:t>
              </a:r>
              <a:endParaRPr lang="en-US" sz="2200" dirty="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10275" y="2075021"/>
            <a:ext cx="5448300" cy="1290057"/>
            <a:chOff x="0" y="19050"/>
            <a:chExt cx="7264400" cy="1720076"/>
          </a:xfrm>
        </p:grpSpPr>
        <p:sp>
          <p:nvSpPr>
            <p:cNvPr id="7" name="TextBox 7"/>
            <p:cNvSpPr txBox="1"/>
            <p:nvPr/>
          </p:nvSpPr>
          <p:spPr>
            <a:xfrm>
              <a:off x="0" y="19050"/>
              <a:ext cx="72644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dirty="0" err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Hộp</a:t>
              </a:r>
              <a:r>
                <a:rPr lang="en-US" sz="3000" b="1" dirty="0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</a:t>
              </a:r>
              <a:r>
                <a:rPr lang="en-US" sz="3000" b="1" dirty="0" err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trắng</a:t>
              </a:r>
              <a:endParaRPr lang="en-US" sz="3000" b="1" dirty="0">
                <a:solidFill>
                  <a:srgbClr val="8AB8FF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03201"/>
              <a:ext cx="7264400" cy="1035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>
                <a:lnSpc>
                  <a:spcPts val="3080"/>
                </a:lnSpc>
                <a:buFont typeface="Arial"/>
                <a:buChar char="•"/>
              </a:pP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thị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này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giúp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bao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phủ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nhánh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rẽ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(if/else)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hàm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createBooking</a:t>
              </a:r>
              <a:endParaRPr lang="en-US" sz="2200" u="none" strike="noStrike" dirty="0">
                <a:solidFill>
                  <a:schemeClr val="bg2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24716" y="2036489"/>
            <a:ext cx="5448347" cy="1266917"/>
            <a:chOff x="0" y="19049"/>
            <a:chExt cx="7264463" cy="1689222"/>
          </a:xfrm>
        </p:grpSpPr>
        <p:sp>
          <p:nvSpPr>
            <p:cNvPr id="10" name="TextBox 10"/>
            <p:cNvSpPr txBox="1"/>
            <p:nvPr/>
          </p:nvSpPr>
          <p:spPr>
            <a:xfrm>
              <a:off x="63" y="19049"/>
              <a:ext cx="72644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dirty="0" err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Bảng</a:t>
              </a:r>
              <a:r>
                <a:rPr lang="en-US" sz="3000" b="1" dirty="0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</a:t>
              </a:r>
              <a:r>
                <a:rPr lang="en-US" sz="3000" b="1" dirty="0" err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quyết</a:t>
              </a:r>
              <a:r>
                <a:rPr lang="en-US" sz="3000" b="1" dirty="0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</a:t>
              </a:r>
              <a:r>
                <a:rPr lang="en-US" sz="3000" b="1" dirty="0" err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định</a:t>
              </a:r>
              <a:endParaRPr lang="en-US" sz="3000" b="1" dirty="0">
                <a:solidFill>
                  <a:srgbClr val="8AB8FF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222496"/>
              <a:ext cx="7264400" cy="485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37490" lvl="1" algn="l">
                <a:lnSpc>
                  <a:spcPts val="3080"/>
                </a:lnSpc>
              </a:pPr>
              <a:endParaRPr lang="en-US" sz="2200" u="none" strike="noStrike" dirty="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403826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4D8A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8410794">
            <a:off x="14883321" y="-3075217"/>
            <a:ext cx="7440338" cy="5072958"/>
          </a:xfrm>
          <a:custGeom>
            <a:avLst/>
            <a:gdLst/>
            <a:ahLst/>
            <a:cxnLst/>
            <a:rect l="l" t="t" r="r" b="b"/>
            <a:pathLst>
              <a:path w="7440338" h="507295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20BBC1-297B-E2D7-A0CE-80AE9EBBF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275" y="3547371"/>
            <a:ext cx="4039890" cy="56205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0ECA2D3-9C24-BC7F-528A-9D965C0F0B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3178264"/>
            <a:ext cx="7382852" cy="3179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8F1E8-EFE0-088F-2E5E-9DBF5939F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7718416-E53A-93F7-149A-D632FD824605}"/>
              </a:ext>
            </a:extLst>
          </p:cNvPr>
          <p:cNvSpPr txBox="1"/>
          <p:nvPr/>
        </p:nvSpPr>
        <p:spPr>
          <a:xfrm>
            <a:off x="666750" y="742950"/>
            <a:ext cx="11201400" cy="255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Chiến lược Kiểm thử Hiệu quả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7EE8D0E-6DDF-FCED-CE50-EB1ED72FED86}"/>
              </a:ext>
            </a:extLst>
          </p:cNvPr>
          <p:cNvGrpSpPr/>
          <p:nvPr/>
        </p:nvGrpSpPr>
        <p:grpSpPr>
          <a:xfrm>
            <a:off x="666750" y="3930405"/>
            <a:ext cx="5448300" cy="3254588"/>
            <a:chOff x="0" y="19050"/>
            <a:chExt cx="7264400" cy="4339450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7B69D6A-2701-65D1-8F46-1847FCFBD6FA}"/>
                </a:ext>
              </a:extLst>
            </p:cNvPr>
            <p:cNvSpPr txBox="1"/>
            <p:nvPr/>
          </p:nvSpPr>
          <p:spPr>
            <a:xfrm>
              <a:off x="0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Phương pháp tiếp cận: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0709FE9-EAFA-10CF-EE78-FED7046F9814}"/>
                </a:ext>
              </a:extLst>
            </p:cNvPr>
            <p:cNvSpPr txBox="1"/>
            <p:nvPr/>
          </p:nvSpPr>
          <p:spPr>
            <a:xfrm>
              <a:off x="0" y="1222429"/>
              <a:ext cx="7264400" cy="3136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Kiểm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thử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đơn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vị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(Unit Testing):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Tập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trung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kiểm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tra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logic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nghiệp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vụ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của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BookingService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Kiểm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thử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Đi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sâu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vào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mã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nguồn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để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tìm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lỗi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logic.</a:t>
              </a:r>
            </a:p>
            <a:p>
              <a:pPr marL="0" lvl="0" indent="0" algn="l">
                <a:lnSpc>
                  <a:spcPts val="3080"/>
                </a:lnSpc>
              </a:pPr>
              <a:endParaRPr lang="en-US" sz="2200" dirty="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A6B5DA2-7702-6A6E-3FF4-2932EF991649}"/>
              </a:ext>
            </a:extLst>
          </p:cNvPr>
          <p:cNvGrpSpPr/>
          <p:nvPr/>
        </p:nvGrpSpPr>
        <p:grpSpPr>
          <a:xfrm>
            <a:off x="6267450" y="3930405"/>
            <a:ext cx="5448300" cy="3234713"/>
            <a:chOff x="0" y="19050"/>
            <a:chExt cx="7264400" cy="4312950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34FD271-9C27-064E-E378-A71DBE305E9D}"/>
                </a:ext>
              </a:extLst>
            </p:cNvPr>
            <p:cNvSpPr txBox="1"/>
            <p:nvPr/>
          </p:nvSpPr>
          <p:spPr>
            <a:xfrm>
              <a:off x="0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Công cụ sử dụng: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61F7E0C-3301-8812-AB9A-1EDA8422ECA0}"/>
                </a:ext>
              </a:extLst>
            </p:cNvPr>
            <p:cNvSpPr txBox="1"/>
            <p:nvPr/>
          </p:nvSpPr>
          <p:spPr>
            <a:xfrm>
              <a:off x="0" y="1194132"/>
              <a:ext cx="7264400" cy="3137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JUnit 4: Framework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hực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thi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các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Test Case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tự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động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Mockito: Thư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viện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giả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lập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các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đối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tượng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phụ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thuộc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như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Database Repository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và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MoMo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Service.</a:t>
              </a:r>
            </a:p>
            <a:p>
              <a:pPr marL="0" lvl="0" indent="0" algn="l">
                <a:lnSpc>
                  <a:spcPts val="3080"/>
                </a:lnSpc>
              </a:pPr>
              <a:endParaRPr lang="en-US" sz="2200" u="none" strike="noStrike" dirty="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8D19ED6-E771-93B0-E36A-34EA6B18709D}"/>
              </a:ext>
            </a:extLst>
          </p:cNvPr>
          <p:cNvGrpSpPr/>
          <p:nvPr/>
        </p:nvGrpSpPr>
        <p:grpSpPr>
          <a:xfrm>
            <a:off x="12024832" y="3916117"/>
            <a:ext cx="5448347" cy="2458810"/>
            <a:chOff x="0" y="0"/>
            <a:chExt cx="7264463" cy="3278414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80520E3-35ED-8F39-65E3-5DD0AFFD7CDD}"/>
                </a:ext>
              </a:extLst>
            </p:cNvPr>
            <p:cNvSpPr txBox="1"/>
            <p:nvPr/>
          </p:nvSpPr>
          <p:spPr>
            <a:xfrm>
              <a:off x="63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dirty="0" err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Kỹ</a:t>
              </a:r>
              <a:r>
                <a:rPr lang="en-US" sz="3000" b="1" dirty="0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</a:t>
              </a:r>
              <a:r>
                <a:rPr lang="en-US" sz="3000" b="1" dirty="0" err="1">
                  <a:solidFill>
                    <a:srgbClr val="8AB8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thuật</a:t>
              </a:r>
              <a:endParaRPr lang="en-US" sz="3000" b="1" dirty="0">
                <a:solidFill>
                  <a:srgbClr val="8AB8FF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16312D8-8C71-1BC5-E43D-49119B459AEE}"/>
                </a:ext>
              </a:extLst>
            </p:cNvPr>
            <p:cNvSpPr txBox="1"/>
            <p:nvPr/>
          </p:nvSpPr>
          <p:spPr>
            <a:xfrm>
              <a:off x="0" y="1222495"/>
              <a:ext cx="7264400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Giả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lập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Đa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luồng</a:t>
              </a:r>
              <a:r>
                <a:rPr lang="en-US" sz="2200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(Multi-thr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eading Simulation):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Khởi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tạo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2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luồng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(Threads)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người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dùng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song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song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để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tấn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công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vào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hàm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đặt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vé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cùng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một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thời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00" u="none" strike="noStrike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điểm</a:t>
              </a:r>
              <a:r>
                <a:rPr lang="en-US" sz="2200" u="none" strike="noStrike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993EAF2-8C88-D4F0-E140-E5FFA5C8FE2E}"/>
              </a:ext>
            </a:extLst>
          </p:cNvPr>
          <p:cNvSpPr txBox="1"/>
          <p:nvPr/>
        </p:nvSpPr>
        <p:spPr>
          <a:xfrm>
            <a:off x="17403826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C3A87F63-0CAB-FE8B-1748-AA379CC59097}"/>
              </a:ext>
            </a:extLst>
          </p:cNvPr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4D8A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A1C18A9-BC22-7013-66DF-74E1315E5BF3}"/>
              </a:ext>
            </a:extLst>
          </p:cNvPr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A88C793-754C-AD47-F3F2-682707162572}"/>
              </a:ext>
            </a:extLst>
          </p:cNvPr>
          <p:cNvSpPr/>
          <p:nvPr/>
        </p:nvSpPr>
        <p:spPr>
          <a:xfrm rot="8410794">
            <a:off x="14883321" y="-3075217"/>
            <a:ext cx="7440338" cy="5072958"/>
          </a:xfrm>
          <a:custGeom>
            <a:avLst/>
            <a:gdLst/>
            <a:ahLst/>
            <a:cxnLst/>
            <a:rect l="l" t="t" r="r" b="b"/>
            <a:pathLst>
              <a:path w="7440338" h="507295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53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8AB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7696792" y="813547"/>
            <a:ext cx="9914731" cy="8824254"/>
            <a:chOff x="-16387" y="76200"/>
            <a:chExt cx="13219641" cy="11765672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3017500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4D8AF0"/>
                  </a:solidFill>
                  <a:latin typeface="Raleway"/>
                  <a:ea typeface="Raleway"/>
                  <a:cs typeface="Raleway"/>
                  <a:sym typeface="Raleway"/>
                </a:rPr>
                <a:t>Kết quả Kiểm thử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49414"/>
              <a:ext cx="13017500" cy="1149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Tổng quan về kết quả test case và độ bao phủ của kịch bản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16387" y="3402040"/>
              <a:ext cx="13219641" cy="84398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2357" lvl="1" indent="-241178" algn="l">
                <a:lnSpc>
                  <a:spcPts val="3127"/>
                </a:lnSpc>
                <a:buFont typeface="Arial"/>
                <a:buChar char="•"/>
              </a:pP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Thống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kê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tổng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quát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</a:t>
              </a:r>
            </a:p>
            <a:p>
              <a:pPr marL="482357" lvl="1" indent="-241178" algn="l">
                <a:lnSpc>
                  <a:spcPts val="3127"/>
                </a:lnSpc>
                <a:buFont typeface="Arial"/>
                <a:buChar char="•"/>
              </a:pP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Tổng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số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Test Case: 15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trường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hợp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482357" lvl="1" indent="-241178" algn="l">
                <a:lnSpc>
                  <a:spcPts val="3127"/>
                </a:lnSpc>
                <a:buFont typeface="Arial"/>
                <a:buChar char="•"/>
              </a:pP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Độ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bao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phủ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(Coverage): 100%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kịch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bản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theo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kế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hoạch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482357" lvl="1" indent="-241178" algn="l">
                <a:lnSpc>
                  <a:spcPts val="3127"/>
                </a:lnSpc>
                <a:buFont typeface="Arial"/>
                <a:buChar char="•"/>
              </a:pP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Chi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tiết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kết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quả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</a:t>
              </a:r>
            </a:p>
            <a:p>
              <a:pPr marL="482357" lvl="1" indent="-241178">
                <a:lnSpc>
                  <a:spcPts val="3127"/>
                </a:lnSpc>
                <a:buFont typeface="Arial"/>
                <a:buChar char="•"/>
              </a:pP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Nhóm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Validation (7 cases):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dữ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liệu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đầu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(ID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âm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ghế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rỗng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user null...)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file BookingValidationTest.java.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2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</a:t>
              </a:r>
              <a:r>
                <a:rPr lang="en-US" sz="22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7 Passed.</a:t>
              </a:r>
            </a:p>
            <a:p>
              <a:pPr marL="482357" lvl="1" indent="-241178">
                <a:lnSpc>
                  <a:spcPts val="3127"/>
                </a:lnSpc>
                <a:buFont typeface="Arial"/>
                <a:buChar char="•"/>
              </a:pP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Nhóm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Safety &amp; Functional (8 cases):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logic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đặt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vé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đa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luồng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Cron Job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file BookingSafetyTest.java.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1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</a:t>
              </a:r>
              <a:r>
                <a:rPr lang="en-US" sz="21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5 Pass / 3 Fail.</a:t>
              </a:r>
              <a:endParaRPr lang="en-US" sz="2100" dirty="0">
                <a:solidFill>
                  <a:schemeClr val="bg2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  <a:p>
              <a:pPr marL="482357" lvl="1" indent="-241178" algn="l">
                <a:lnSpc>
                  <a:spcPts val="3127"/>
                </a:lnSpc>
                <a:buFont typeface="Arial"/>
                <a:buChar char="•"/>
              </a:pP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✅ PASSED (Thành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công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): 12/15 (80%)</a:t>
              </a:r>
            </a:p>
            <a:p>
              <a:pPr marL="964714" lvl="2" indent="-321571" algn="l">
                <a:lnSpc>
                  <a:spcPts val="3127"/>
                </a:lnSpc>
                <a:buFont typeface="Arial"/>
                <a:buChar char="⚬"/>
              </a:pP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Bao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gồm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 Các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chức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năng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đặt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vé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cơ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bản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,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kiểm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tra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dữ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liệu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đầu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vào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(Validation),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luồng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hủy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vé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tự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động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(Liveness).</a:t>
              </a:r>
            </a:p>
            <a:p>
              <a:pPr marL="482357" lvl="1" indent="-241178" algn="l">
                <a:lnSpc>
                  <a:spcPts val="3127"/>
                </a:lnSpc>
                <a:buFont typeface="Arial"/>
                <a:buChar char="•"/>
              </a:pP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❌ FAILED (Thất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bại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): 3/15 (20%)</a:t>
              </a:r>
            </a:p>
            <a:p>
              <a:pPr marL="964714" lvl="2" indent="-321571" algn="l">
                <a:lnSpc>
                  <a:spcPts val="3127"/>
                </a:lnSpc>
                <a:buFont typeface="Arial"/>
                <a:buChar char="⚬"/>
              </a:pP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Bao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gồm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 Các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kịch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bản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tranh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chấp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tài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nguyên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khi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thanh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toán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Tiền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mặt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và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MoMo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964714" lvl="2" indent="-321571" algn="l">
                <a:lnSpc>
                  <a:spcPts val="3127"/>
                </a:lnSpc>
                <a:buFont typeface="Arial"/>
                <a:buChar char="⚬"/>
              </a:pP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Lỗi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đặt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chồng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234" dirty="0" err="1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chéo</a:t>
              </a:r>
              <a:r>
                <a:rPr lang="en-US" sz="2234" dirty="0">
                  <a:solidFill>
                    <a:srgbClr val="D9D9D9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</a:t>
              </a:r>
            </a:p>
            <a:p>
              <a:pPr marL="0" lvl="0" indent="0" algn="l">
                <a:lnSpc>
                  <a:spcPts val="3127"/>
                </a:lnSpc>
              </a:pPr>
              <a:endParaRPr lang="en-US" sz="2234" dirty="0">
                <a:solidFill>
                  <a:srgbClr val="D9D9D9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A7FF7D-FD66-3E7C-9FE9-406B1C0AA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704" y="1950424"/>
            <a:ext cx="5577824" cy="6094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43800" y="4124326"/>
            <a:ext cx="10382250" cy="2038347"/>
            <a:chOff x="-168088" y="76200"/>
            <a:chExt cx="13843000" cy="5285333"/>
          </a:xfrm>
        </p:grpSpPr>
        <p:sp>
          <p:nvSpPr>
            <p:cNvPr id="5" name="TextBox 5"/>
            <p:cNvSpPr txBox="1"/>
            <p:nvPr/>
          </p:nvSpPr>
          <p:spPr>
            <a:xfrm>
              <a:off x="-168088" y="76200"/>
              <a:ext cx="13843000" cy="16927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9900"/>
                </a:lnSpc>
              </a:pPr>
              <a:r>
                <a:rPr lang="en-US" sz="9000" dirty="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Báo </a:t>
              </a:r>
              <a:r>
                <a:rPr lang="en-US" sz="9000" dirty="0" err="1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cáo</a:t>
              </a:r>
              <a:r>
                <a:rPr lang="en-US" sz="9000" dirty="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9000" dirty="0" err="1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lỗi</a:t>
              </a:r>
              <a:endParaRPr lang="en-US" sz="9000" dirty="0">
                <a:solidFill>
                  <a:srgbClr val="8AB8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017273"/>
              <a:ext cx="13674912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endParaRPr lang="en-US" sz="3000" dirty="0">
                <a:solidFill>
                  <a:srgbClr val="8AB8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873962"/>
              <a:ext cx="13674912" cy="48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80"/>
                </a:lnSpc>
              </a:pPr>
              <a:endParaRPr lang="en-US" sz="2200" dirty="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id="9" name="AutoShape 9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8AB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3F6062-21C2-7C66-FE53-9F0364BBA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852167"/>
            <a:ext cx="5628959" cy="8239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03908-2416-D3A5-3506-E9335837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C2138A4-A774-9793-AEB8-6194AAD84940}"/>
              </a:ext>
            </a:extLst>
          </p:cNvPr>
          <p:cNvGrpSpPr/>
          <p:nvPr/>
        </p:nvGrpSpPr>
        <p:grpSpPr>
          <a:xfrm>
            <a:off x="666750" y="666750"/>
            <a:ext cx="5753100" cy="8080381"/>
            <a:chOff x="0" y="0"/>
            <a:chExt cx="891306" cy="125186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A9CB94D-83D0-F9D0-FD5A-63EB95FE40D7}"/>
                </a:ext>
              </a:extLst>
            </p:cNvPr>
            <p:cNvSpPr/>
            <p:nvPr/>
          </p:nvSpPr>
          <p:spPr>
            <a:xfrm>
              <a:off x="0" y="0"/>
              <a:ext cx="891306" cy="1251862"/>
            </a:xfrm>
            <a:custGeom>
              <a:avLst/>
              <a:gdLst/>
              <a:ahLst/>
              <a:cxnLst/>
              <a:rect l="l" t="t" r="r" b="b"/>
              <a:pathLst>
                <a:path w="891306" h="1251862">
                  <a:moveTo>
                    <a:pt x="0" y="0"/>
                  </a:moveTo>
                  <a:lnTo>
                    <a:pt x="891306" y="0"/>
                  </a:lnTo>
                  <a:lnTo>
                    <a:pt x="891306" y="1251862"/>
                  </a:lnTo>
                  <a:lnTo>
                    <a:pt x="0" y="1251862"/>
                  </a:lnTo>
                  <a:close/>
                </a:path>
              </a:pathLst>
            </a:custGeom>
            <a:blipFill>
              <a:blip r:embed="rId2"/>
              <a:stretch>
                <a:fillRect t="-316" b="-31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02C7D02-05D7-5C3B-E08E-76A511244092}"/>
              </a:ext>
            </a:extLst>
          </p:cNvPr>
          <p:cNvGrpSpPr/>
          <p:nvPr/>
        </p:nvGrpSpPr>
        <p:grpSpPr>
          <a:xfrm>
            <a:off x="7239000" y="723900"/>
            <a:ext cx="10382250" cy="6702361"/>
            <a:chOff x="-168088" y="76200"/>
            <a:chExt cx="13843000" cy="893648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1458E37-30D4-EE4F-69D3-BACA43F3FBDC}"/>
                </a:ext>
              </a:extLst>
            </p:cNvPr>
            <p:cNvSpPr txBox="1"/>
            <p:nvPr/>
          </p:nvSpPr>
          <p:spPr>
            <a:xfrm>
              <a:off x="-168088" y="76200"/>
              <a:ext cx="13843000" cy="34290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9900"/>
                </a:lnSpc>
              </a:pPr>
              <a:r>
                <a:rPr lang="en-US" sz="9000" dirty="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Báo </a:t>
              </a:r>
              <a:r>
                <a:rPr lang="en-US" sz="9000" dirty="0" err="1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cáo</a:t>
              </a:r>
              <a:r>
                <a:rPr lang="en-US" sz="9000" dirty="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9000" dirty="0" err="1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lỗi</a:t>
              </a:r>
              <a:r>
                <a:rPr lang="en-US" sz="9000" dirty="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 1 - </a:t>
              </a:r>
              <a:r>
                <a:rPr lang="en-US" sz="9000" dirty="0" err="1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thanh</a:t>
              </a:r>
              <a:r>
                <a:rPr lang="en-US" sz="9000" dirty="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9000" dirty="0" err="1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toán</a:t>
              </a:r>
              <a:r>
                <a:rPr lang="en-US" sz="9000" dirty="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9000" dirty="0" err="1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tiền</a:t>
              </a:r>
              <a:r>
                <a:rPr lang="en-US" sz="9000" dirty="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sz="9000" dirty="0" err="1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mặt</a:t>
              </a:r>
              <a:endParaRPr lang="en-US" sz="9000" dirty="0">
                <a:solidFill>
                  <a:srgbClr val="8AB8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5789567-A1DC-DEAD-352A-1E4EC73B87BE}"/>
                </a:ext>
              </a:extLst>
            </p:cNvPr>
            <p:cNvSpPr txBox="1"/>
            <p:nvPr/>
          </p:nvSpPr>
          <p:spPr>
            <a:xfrm>
              <a:off x="0" y="4017273"/>
              <a:ext cx="13674912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Tên lỗi: Tranh chấp đặt vé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3440AA0-FDF2-C48A-F648-693F8EC83EF7}"/>
                </a:ext>
              </a:extLst>
            </p:cNvPr>
            <p:cNvSpPr txBox="1"/>
            <p:nvPr/>
          </p:nvSpPr>
          <p:spPr>
            <a:xfrm>
              <a:off x="0" y="4873963"/>
              <a:ext cx="13674912" cy="41387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Mô tả: Hai luồng (User) cùng thực hiện đặt 1 ghế trống tại cùng một thời điểm.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Kết quả thực tế (Actual Result):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Hệ thống không chặn được luồng nào.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Database lưu 2 bản ghi vé cho cùng 1 ghế.</a:t>
              </a:r>
            </a:p>
            <a:p>
              <a:pPr marL="474981" lvl="1" indent="-237491" algn="just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Mức độ nghiêm trọng: Critical (Nghiêm trọng) - Vi phạm tính toàn vẹn dữ liệu.</a:t>
              </a:r>
            </a:p>
            <a:p>
              <a:pPr marL="0" lvl="0" indent="0" algn="just">
                <a:lnSpc>
                  <a:spcPts val="3080"/>
                </a:lnSpc>
              </a:pPr>
              <a:endParaRPr lang="en-US" sz="22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08DAF14-C505-3A92-54B7-8FE57CC0141F}"/>
              </a:ext>
            </a:extLst>
          </p:cNvPr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3DE155EB-3507-001C-C26F-88AFAB632618}"/>
              </a:ext>
            </a:extLst>
          </p:cNvPr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8AB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A1EB635-77BB-669D-2CFF-307F0CB649FA}"/>
              </a:ext>
            </a:extLst>
          </p:cNvPr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12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80381"/>
            <a:chOff x="0" y="0"/>
            <a:chExt cx="891306" cy="1251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1306" cy="1251862"/>
            </a:xfrm>
            <a:custGeom>
              <a:avLst/>
              <a:gdLst/>
              <a:ahLst/>
              <a:cxnLst/>
              <a:rect l="l" t="t" r="r" b="b"/>
              <a:pathLst>
                <a:path w="891306" h="1251862">
                  <a:moveTo>
                    <a:pt x="0" y="0"/>
                  </a:moveTo>
                  <a:lnTo>
                    <a:pt x="891306" y="0"/>
                  </a:lnTo>
                  <a:lnTo>
                    <a:pt x="891306" y="1251862"/>
                  </a:lnTo>
                  <a:lnTo>
                    <a:pt x="0" y="1251862"/>
                  </a:lnTo>
                  <a:close/>
                </a:path>
              </a:pathLst>
            </a:custGeom>
            <a:blipFill>
              <a:blip r:embed="rId2"/>
              <a:stretch>
                <a:fillRect t="-316" b="-31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63125" cy="6511300"/>
            <a:chOff x="0" y="0"/>
            <a:chExt cx="13017500" cy="8681734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3017500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900"/>
                </a:lnSpc>
              </a:pPr>
              <a:r>
                <a:rPr lang="en-US" sz="9000">
                  <a:solidFill>
                    <a:srgbClr val="4D8AF0"/>
                  </a:solidFill>
                  <a:latin typeface="Raleway"/>
                  <a:ea typeface="Raleway"/>
                  <a:cs typeface="Raleway"/>
                  <a:sym typeface="Raleway"/>
                </a:rPr>
                <a:t>Báo cáo lỗi 2 -Thanh toán MoMo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022520"/>
              <a:ext cx="130175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Tên lỗi: Đa luồng trong xử lý thanh toán.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063716"/>
              <a:ext cx="13017500" cy="36180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Kịch bản kiểm thử: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Giả lập MoMo phản hồi "Thành công" tức thì cho cả 2 luồng.</a:t>
              </a:r>
            </a:p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Kết quả thực tế: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Hệ thống cập nhật trạng thái PAID (Đã thanh toán) cho cả 2 vé.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Rủi ro tài chính: Thu tiền của cả 2 khách hàng cho 1 dịch vụ duy nhất -&gt; Phải hoàn tiền và đền bù.</a:t>
              </a:r>
            </a:p>
            <a:p>
              <a:pPr marL="0" lvl="0" indent="0" algn="l">
                <a:lnSpc>
                  <a:spcPts val="3080"/>
                </a:lnSpc>
              </a:pPr>
              <a:endParaRPr lang="en-US" sz="22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  <p:sp>
        <p:nvSpPr>
          <p:cNvPr id="9" name="AutoShape 9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8AB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80381"/>
            <a:chOff x="0" y="0"/>
            <a:chExt cx="891306" cy="1251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1306" cy="1251862"/>
            </a:xfrm>
            <a:custGeom>
              <a:avLst/>
              <a:gdLst/>
              <a:ahLst/>
              <a:cxnLst/>
              <a:rect l="l" t="t" r="r" b="b"/>
              <a:pathLst>
                <a:path w="891306" h="1251862">
                  <a:moveTo>
                    <a:pt x="0" y="0"/>
                  </a:moveTo>
                  <a:lnTo>
                    <a:pt x="891306" y="0"/>
                  </a:lnTo>
                  <a:lnTo>
                    <a:pt x="891306" y="1251862"/>
                  </a:lnTo>
                  <a:lnTo>
                    <a:pt x="0" y="1251862"/>
                  </a:lnTo>
                  <a:close/>
                </a:path>
              </a:pathLst>
            </a:custGeom>
            <a:blipFill>
              <a:blip r:embed="rId2"/>
              <a:stretch>
                <a:fillRect t="-316" b="-31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63125" cy="6901825"/>
            <a:chOff x="0" y="0"/>
            <a:chExt cx="13017500" cy="9202434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3017500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900"/>
                </a:lnSpc>
              </a:pPr>
              <a:r>
                <a:rPr lang="en-US" sz="9000">
                  <a:solidFill>
                    <a:srgbClr val="4D8AF0"/>
                  </a:solidFill>
                  <a:latin typeface="Raleway"/>
                  <a:ea typeface="Raleway"/>
                  <a:cs typeface="Raleway"/>
                  <a:sym typeface="Raleway"/>
                </a:rPr>
                <a:t>Báo cáo lỗi 3 -Đặt vé chồng chéo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022520"/>
              <a:ext cx="130175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Tên lỗi: Xung đột danh sách ghế (Overlap Booking).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063716"/>
              <a:ext cx="13017500" cy="41387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Mô tả kịch bản: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User A đặt: [Ghế A01, Ghế A02].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User B đặt: [Ghế A02, Ghế A03] (Trùng ghế A02).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Hai người bấm đặt cùng lúc.</a:t>
              </a:r>
            </a:p>
            <a:p>
              <a:pPr algn="l">
                <a:lnSpc>
                  <a:spcPts val="3080"/>
                </a:lnSpc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Kết quả thực tế: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Hệ thống cho phép cả 2 giao dịch thành công.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D9D9D9"/>
                  </a:solidFill>
                  <a:latin typeface="Raleway"/>
                  <a:ea typeface="Raleway"/>
                  <a:cs typeface="Raleway"/>
                  <a:sym typeface="Raleway"/>
                </a:rPr>
                <a:t>Ghế A02 bị bán cho cả 2 người.</a:t>
              </a:r>
            </a:p>
            <a:p>
              <a:pPr marL="0" lvl="0" indent="0" algn="l">
                <a:lnSpc>
                  <a:spcPts val="3080"/>
                </a:lnSpc>
              </a:pPr>
              <a:endParaRPr lang="en-US" sz="22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</a:p>
        </p:txBody>
      </p:sp>
      <p:sp>
        <p:nvSpPr>
          <p:cNvPr id="9" name="AutoShape 9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8AB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</a:p>
        </p:txBody>
      </p:sp>
      <p:sp>
        <p:nvSpPr>
          <p:cNvPr id="3" name="AutoShape 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8AB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671512" y="723900"/>
            <a:ext cx="13208441" cy="2190750"/>
            <a:chOff x="0" y="76200"/>
            <a:chExt cx="17611255" cy="2921000"/>
          </a:xfrm>
        </p:grpSpPr>
        <p:sp>
          <p:nvSpPr>
            <p:cNvPr id="6" name="TextBox 6"/>
            <p:cNvSpPr txBox="1"/>
            <p:nvPr/>
          </p:nvSpPr>
          <p:spPr>
            <a:xfrm>
              <a:off x="1543051" y="76200"/>
              <a:ext cx="16068204" cy="17526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dirty="0">
                  <a:solidFill>
                    <a:srgbClr val="8AB8FF"/>
                  </a:solidFill>
                  <a:latin typeface="Raleway"/>
                  <a:ea typeface="Raleway"/>
                  <a:cs typeface="Raleway"/>
                  <a:sym typeface="Raleway"/>
                </a:rPr>
                <a:t>Demo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6226" y="741829"/>
            <a:ext cx="719137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 u="none" strike="noStrike">
                <a:solidFill>
                  <a:srgbClr val="4D8AF0"/>
                </a:solidFill>
                <a:latin typeface="Raleway"/>
                <a:ea typeface="Raleway"/>
                <a:cs typeface="Raleway"/>
                <a:sym typeface="Raleway"/>
              </a:rPr>
              <a:t>Kết luận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836226" y="2463371"/>
            <a:ext cx="15537374" cy="2912464"/>
            <a:chOff x="0" y="-68185"/>
            <a:chExt cx="11741903" cy="4021747"/>
          </a:xfrm>
        </p:grpSpPr>
        <p:sp>
          <p:nvSpPr>
            <p:cNvPr id="4" name="TextBox 4"/>
            <p:cNvSpPr txBox="1"/>
            <p:nvPr/>
          </p:nvSpPr>
          <p:spPr>
            <a:xfrm>
              <a:off x="0" y="-57150"/>
              <a:ext cx="11524719" cy="507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108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8185"/>
              <a:ext cx="11741903" cy="40217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5890"/>
                </a:lnSpc>
              </a:pP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Kết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quả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kiểm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thử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bằng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JUnit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đã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chỉ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ra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hệ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thống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đang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tồn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tại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lỗi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nghiêm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trọng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.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Vấn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đề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này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cần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được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khắc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phục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triệt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để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nhằm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đảm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bảo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đáp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ứng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các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yêu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cầu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về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độ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an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toàn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trước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khi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triển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khai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bằng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các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kỹ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thuật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 </a:t>
              </a:r>
              <a:r>
                <a:rPr lang="en-US" sz="2500" dirty="0" err="1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như</a:t>
              </a:r>
              <a:r>
                <a:rPr lang="en-US" sz="2500" dirty="0">
                  <a:solidFill>
                    <a:srgbClr val="FEFEFE"/>
                  </a:solidFill>
                  <a:latin typeface="Times New Roman" panose="02020603050405020304" pitchFamily="18" charset="0"/>
                  <a:ea typeface="Raleway"/>
                  <a:cs typeface="Times New Roman" panose="02020603050405020304" pitchFamily="18" charset="0"/>
                  <a:sym typeface="Raleway"/>
                </a:rPr>
                <a:t>:</a:t>
              </a:r>
            </a:p>
            <a:p>
              <a:pPr marL="342900" lvl="0" indent="-342900" algn="just">
                <a:lnSpc>
                  <a:spcPts val="5890"/>
                </a:lnSpc>
                <a:buFont typeface="Arial" panose="020B0604020202020204" pitchFamily="34" charset="0"/>
                <a:buChar char="•"/>
              </a:pPr>
              <a:r>
                <a:rPr lang="vi-VN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Sử dụng cơ chế khóa Database (Locking) để xử lý tranh chấp tài nguyên.</a:t>
              </a:r>
              <a:endParaRPr lang="en-US" sz="25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lvl="0" indent="-342900" algn="just">
                <a:lnSpc>
                  <a:spcPts val="5890"/>
                </a:lnSpc>
                <a:buFont typeface="Arial" panose="020B0604020202020204" pitchFamily="34" charset="0"/>
                <a:buChar char="•"/>
              </a:pP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dụng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@Transactional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mức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lập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(Isolation Level)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phù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để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đảm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bảo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toàn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vẹn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dữ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liệu</a:t>
              </a:r>
              <a:r>
                <a:rPr lang="en-US" sz="25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500" dirty="0">
                <a:solidFill>
                  <a:schemeClr val="bg2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899</Words>
  <Application>Microsoft Office PowerPoint</Application>
  <PresentationFormat>Custom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Raleway</vt:lpstr>
      <vt:lpstr>Raleway Bold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- Kiểm Thử Phần Mềm</dc:title>
  <dc:description>Bài thuyết trình - Kiểm Thử Phần Mềm</dc:description>
  <cp:lastModifiedBy>Nguyen Quoc Khanh</cp:lastModifiedBy>
  <cp:revision>9</cp:revision>
  <dcterms:created xsi:type="dcterms:W3CDTF">2006-08-16T00:00:00Z</dcterms:created>
  <dcterms:modified xsi:type="dcterms:W3CDTF">2026-03-16T16:36:08Z</dcterms:modified>
  <dc:identifier>DAHALGBnAfE</dc:identifier>
</cp:coreProperties>
</file>